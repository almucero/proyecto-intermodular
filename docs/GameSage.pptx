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lus Jakarta Sans ExtraBold"/>
      <p:bold r:id="rId20"/>
      <p:boldItalic r:id="rId21"/>
    </p:embeddedFont>
    <p:embeddedFont>
      <p:font typeface="Plus Jakarta Sans"/>
      <p:regular r:id="rId22"/>
      <p:bold r:id="rId23"/>
      <p:italic r:id="rId24"/>
      <p:boldItalic r:id="rId25"/>
    </p:embeddedFont>
    <p:embeddedFont>
      <p:font typeface="Plus Jakarta Sans SemiBold"/>
      <p:regular r:id="rId26"/>
      <p:bold r:id="rId27"/>
      <p:italic r:id="rId28"/>
      <p:boldItalic r:id="rId29"/>
    </p:embeddedFont>
    <p:embeddedFont>
      <p:font typeface="Urbanist"/>
      <p:bold r:id="rId30"/>
      <p:boldItalic r:id="rId31"/>
    </p:embeddedFont>
    <p:embeddedFont>
      <p:font typeface="Plus Jakarta Sans Light"/>
      <p:regular r:id="rId32"/>
      <p:bold r:id="rId33"/>
      <p:italic r:id="rId34"/>
      <p:boldItalic r:id="rId35"/>
    </p:embeddedFont>
    <p:embeddedFont>
      <p:font typeface="Plus Jakarta Sans Medium"/>
      <p:regular r:id="rId36"/>
      <p:bold r:id="rId37"/>
      <p:italic r:id="rId38"/>
      <p:boldItalic r:id="rId39"/>
    </p:embeddedFont>
    <p:embeddedFont>
      <p:font typeface="Urbanist ExtraBold"/>
      <p:bold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ExtraBold-bold.fntdata"/><Relationship Id="rId20" Type="http://schemas.openxmlformats.org/officeDocument/2006/relationships/font" Target="fonts/PlusJakartaSansExtraBold-bold.fntdata"/><Relationship Id="rId41" Type="http://schemas.openxmlformats.org/officeDocument/2006/relationships/font" Target="fonts/UrbanistExtraBold-boldItalic.fntdata"/><Relationship Id="rId22" Type="http://schemas.openxmlformats.org/officeDocument/2006/relationships/font" Target="fonts/PlusJakartaSans-regular.fntdata"/><Relationship Id="rId21" Type="http://schemas.openxmlformats.org/officeDocument/2006/relationships/font" Target="fonts/PlusJakartaSansExtraBold-boldItalic.fntdata"/><Relationship Id="rId24" Type="http://schemas.openxmlformats.org/officeDocument/2006/relationships/font" Target="fonts/PlusJakartaSans-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SemiBold-regular.fntdata"/><Relationship Id="rId25" Type="http://schemas.openxmlformats.org/officeDocument/2006/relationships/font" Target="fonts/PlusJakartaSans-boldItalic.fntdata"/><Relationship Id="rId28" Type="http://schemas.openxmlformats.org/officeDocument/2006/relationships/font" Target="fonts/PlusJakartaSansSemiBold-italic.fntdata"/><Relationship Id="rId27" Type="http://schemas.openxmlformats.org/officeDocument/2006/relationships/font" Target="fonts/PlusJakartaSa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bold.fntdata"/><Relationship Id="rId11" Type="http://schemas.openxmlformats.org/officeDocument/2006/relationships/slide" Target="slides/slide6.xml"/><Relationship Id="rId33" Type="http://schemas.openxmlformats.org/officeDocument/2006/relationships/font" Target="fonts/PlusJakartaSansLight-bold.fntdata"/><Relationship Id="rId10" Type="http://schemas.openxmlformats.org/officeDocument/2006/relationships/slide" Target="slides/slide5.xml"/><Relationship Id="rId32" Type="http://schemas.openxmlformats.org/officeDocument/2006/relationships/font" Target="fonts/PlusJakartaSansLight-regular.fntdata"/><Relationship Id="rId13" Type="http://schemas.openxmlformats.org/officeDocument/2006/relationships/slide" Target="slides/slide8.xml"/><Relationship Id="rId35" Type="http://schemas.openxmlformats.org/officeDocument/2006/relationships/font" Target="fonts/PlusJakartaSans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PlusJakartaSansLight-italic.fntdata"/><Relationship Id="rId15" Type="http://schemas.openxmlformats.org/officeDocument/2006/relationships/slide" Target="slides/slide10.xml"/><Relationship Id="rId37" Type="http://schemas.openxmlformats.org/officeDocument/2006/relationships/font" Target="fonts/PlusJakartaSansMedium-bold.fntdata"/><Relationship Id="rId14" Type="http://schemas.openxmlformats.org/officeDocument/2006/relationships/slide" Target="slides/slide9.xml"/><Relationship Id="rId36" Type="http://schemas.openxmlformats.org/officeDocument/2006/relationships/font" Target="fonts/PlusJakartaSansMedium-regular.fntdata"/><Relationship Id="rId17" Type="http://schemas.openxmlformats.org/officeDocument/2006/relationships/slide" Target="slides/slide12.xml"/><Relationship Id="rId39" Type="http://schemas.openxmlformats.org/officeDocument/2006/relationships/font" Target="fonts/PlusJakartaSansMedium-boldItalic.fntdata"/><Relationship Id="rId16" Type="http://schemas.openxmlformats.org/officeDocument/2006/relationships/slide" Target="slides/slide11.xml"/><Relationship Id="rId38" Type="http://schemas.openxmlformats.org/officeDocument/2006/relationships/font" Target="fonts/PlusJakartaSansMedium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8681e90e0_1_9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8681e90e0_1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8681e90e0_1_7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8681e90e0_1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8681e90e0_1_1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8681e90e0_1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8681e90e0_1_14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8681e90e0_1_1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8681e90e0_1_16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8681e90e0_1_1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8681e90e0_1_2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8681e90e0_1_2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8681e90e0_1_25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8681e90e0_1_2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8681e90e0_1_28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e8681e90e0_1_2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8681e90e0_1_34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e8681e90e0_1_3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72f9682e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e72f9682e0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8681e90e0_1_38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e8681e90e0_1_3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8681e90e0_58_0)">
  <p:cSld name="Generated (g3e8681e90e0_58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Relationship Id="rId5" Type="http://schemas.openxmlformats.org/officeDocument/2006/relationships/hyperlink" Target="https://github.com/Almucero/Proyecto-Intermodular/blob/main/IPE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hyperlink" Target="https://github.com/Almucero/Proyecto-Intermodular/tree/main" TargetMode="External"/><Relationship Id="rId6" Type="http://schemas.openxmlformats.org/officeDocument/2006/relationships/hyperlink" Target="http://drive.google.com/file/d/1wL9YlnVgS2u4o8jKMRTwSRob35bNFwg3/view" TargetMode="External"/><Relationship Id="rId7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hyperlink" Target="http://drive.google.com/file/d/1O960XhdtqJW65XL45HlOfCsWVocRg4WI/view" TargetMode="External"/><Relationship Id="rId6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hyperlink" Target="http://drive.google.com/file/d/1SNZFfFqMY-81UXLJpXEhTErFxhlyv32S/view" TargetMode="External"/><Relationship Id="rId6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hyperlink" Target="http://drive.google.com/file/d/1oR86T_ICfHE0ljMmUI2x6TANNswxJhM_/view" TargetMode="External"/><Relationship Id="rId5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.png"/><Relationship Id="rId5" Type="http://schemas.openxmlformats.org/officeDocument/2006/relationships/hyperlink" Target="http://drive.google.com/file/d/1S56DnUU6esMW-6g6T4uwe20bPrivzKTr/view" TargetMode="External"/><Relationship Id="rId6" Type="http://schemas.openxmlformats.org/officeDocument/2006/relationships/image" Target="../media/image11.jpg"/><Relationship Id="rId7" Type="http://schemas.openxmlformats.org/officeDocument/2006/relationships/hyperlink" Target="http://drive.google.com/file/d/1GCaGKEthgOVXujelWfupLEvlMIl4c1bC/view" TargetMode="External"/><Relationship Id="rId8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openxmlformats.org/officeDocument/2006/relationships/hyperlink" Target="https://g-team-d9bwba4i.atlassian.net/wiki/spaces/PI/overview" TargetMode="External"/><Relationship Id="rId5" Type="http://schemas.openxmlformats.org/officeDocument/2006/relationships/image" Target="../media/image24.png"/><Relationship Id="rId6" Type="http://schemas.openxmlformats.org/officeDocument/2006/relationships/hyperlink" Target="https://gamingsage.vercel.app/" TargetMode="External"/><Relationship Id="rId7" Type="http://schemas.openxmlformats.org/officeDocument/2006/relationships/hyperlink" Target="https://gamingsage.vercel.app/docs/" TargetMode="External"/><Relationship Id="rId8" Type="http://schemas.openxmlformats.org/officeDocument/2006/relationships/hyperlink" Target="https://gamingsage.vercel.app/api-docs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hyperlink" Target="https://gamingsage.vercel.app/" TargetMode="External"/><Relationship Id="rId6" Type="http://schemas.openxmlformats.org/officeDocument/2006/relationships/hyperlink" Target="http://drive.google.com/file/d/1OtEsuMmygpO74vdiVE94-QiThGtMw_A0/view" TargetMode="External"/><Relationship Id="rId7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6.png"/><Relationship Id="rId6" Type="http://schemas.openxmlformats.org/officeDocument/2006/relationships/hyperlink" Target="http://drive.google.com/file/d/1bsm-MKc23VZk2PaCy_IlaJxdDDB3qe0i/view" TargetMode="External"/><Relationship Id="rId7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hyperlink" Target="https://github.com/Almucero/Proyecto-Intermodul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4120753" y="2542282"/>
            <a:ext cx="395049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F3F4F6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GAMESAGE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2438400" y="3447157"/>
            <a:ext cx="731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MARKETPLACE DE VIDEOJUEGOS INTELIGENTE 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4905375" y="4210942"/>
            <a:ext cx="2381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2362200" y="4601467"/>
            <a:ext cx="7467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PROYECTO DE FIN DE GRADO • DESARROLLO DE APLICACIONES MULTIPLATAFORMA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5E7E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AUTORES: ÁLVARO </a:t>
            </a:r>
            <a:r>
              <a:rPr lang="en-US" sz="1200">
                <a:solidFill>
                  <a:srgbClr val="E5E7E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JIMÉNEZ MUÑOZ </a:t>
            </a:r>
            <a:r>
              <a:rPr b="0" i="0" lang="en-US" sz="1200" u="none" cap="none" strike="noStrike">
                <a:solidFill>
                  <a:srgbClr val="E5E7E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&amp; </a:t>
            </a:r>
            <a:r>
              <a:rPr lang="en-US" sz="1200">
                <a:solidFill>
                  <a:srgbClr val="E5E7E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ROSARIO GONZÁLEZ ORTIZ</a:t>
            </a:r>
            <a:endParaRPr b="0" i="0" sz="1200" u="none" cap="none" strike="noStrike">
              <a:solidFill>
                <a:srgbClr val="E5E7EB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sz="1200">
                <a:solidFill>
                  <a:srgbClr val="E5E7E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CPIFP </a:t>
            </a:r>
            <a:r>
              <a:rPr b="0" i="0" lang="en-US" sz="1200" u="none" cap="none" strike="noStrike">
                <a:solidFill>
                  <a:srgbClr val="E5E7E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ALAN TURING</a:t>
            </a:r>
            <a:endParaRPr/>
          </a:p>
        </p:txBody>
      </p:sp>
      <p:pic>
        <p:nvPicPr>
          <p:cNvPr id="90" name="Google Shape;90;p14" title="game_sage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7375" y="1689675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B14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771525" y="581025"/>
            <a:ext cx="1064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 // VISIÓN DEL PRODUCTO GameSage </a:t>
            </a:r>
            <a:r>
              <a:rPr lang="en-US" sz="1200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Marketplace y propuesta de valor</a:t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771525" y="904875"/>
            <a:ext cx="106491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771525" y="1047750"/>
            <a:ext cx="1064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GAMESAGE: </a:t>
            </a:r>
            <a:r>
              <a:rPr b="0" lang="en-US" sz="3600">
                <a:solidFill>
                  <a:srgbClr val="8EDC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EL MARKETPLACE INTELIGENTE</a:t>
            </a:r>
            <a:endParaRPr b="0" sz="360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grpSp>
        <p:nvGrpSpPr>
          <p:cNvPr id="99" name="Google Shape;99;p15"/>
          <p:cNvGrpSpPr/>
          <p:nvPr/>
        </p:nvGrpSpPr>
        <p:grpSpPr>
          <a:xfrm>
            <a:off x="771525" y="1905000"/>
            <a:ext cx="10477500" cy="1905000"/>
            <a:chOff x="771525" y="1905000"/>
            <a:chExt cx="10477500" cy="1905000"/>
          </a:xfrm>
        </p:grpSpPr>
        <p:sp>
          <p:nvSpPr>
            <p:cNvPr id="100" name="Google Shape;100;p15"/>
            <p:cNvSpPr/>
            <p:nvPr/>
          </p:nvSpPr>
          <p:spPr>
            <a:xfrm>
              <a:off x="771525" y="1905000"/>
              <a:ext cx="2476500" cy="1905000"/>
            </a:xfrm>
            <a:prstGeom prst="roundRect">
              <a:avLst>
                <a:gd fmla="val 6000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962025" y="2130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shopping_cart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962025" y="2571750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Tienda de </a:t>
              </a:r>
              <a:r>
                <a:rPr b="1" lang="en-US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claves</a:t>
              </a:r>
              <a:endParaRPr b="1" sz="1400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Claves digitales (Steam, Epic, Xbox...). Marketplace puro, no es un launcher.</a:t>
              </a:r>
              <a:endParaRPr b="0" sz="11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3438525" y="1905000"/>
              <a:ext cx="2476500" cy="1905000"/>
            </a:xfrm>
            <a:prstGeom prst="roundRect">
              <a:avLst>
                <a:gd fmla="val 6000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3629025" y="2130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3629025" y="2571750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Precio </a:t>
              </a:r>
              <a:r>
                <a:rPr b="1" lang="en-US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competitivo</a:t>
              </a:r>
              <a:endParaRPr b="1" sz="1400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Ahorro directo. Claves por debajo del precio de las tiendas oficiales.</a:t>
              </a:r>
              <a:endParaRPr b="0" sz="11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6105525" y="1905000"/>
              <a:ext cx="2476500" cy="1905000"/>
            </a:xfrm>
            <a:prstGeom prst="roundRect">
              <a:avLst>
                <a:gd fmla="val 6000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6296025" y="2130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6296025" y="2571750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Sage: Chat IA</a:t>
              </a:r>
              <a:endParaRPr b="1" sz="1400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Asistente inteligente para búsqueda y recomendación personalizada de juegos.</a:t>
              </a:r>
              <a:endParaRPr b="0" sz="11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8772525" y="1905000"/>
              <a:ext cx="2476500" cy="1905000"/>
            </a:xfrm>
            <a:prstGeom prst="roundRect">
              <a:avLst>
                <a:gd fmla="val 6000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8963025" y="2130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8963025" y="2571750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Multiplataforma</a:t>
              </a:r>
              <a:endParaRPr b="1" sz="1400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Web y </a:t>
              </a:r>
              <a:r>
                <a:rPr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app</a:t>
              </a: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 Android compartiendo la misma API y experiencia de usuario.</a:t>
              </a:r>
              <a:endParaRPr b="0" sz="11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12" name="Google Shape;112;p15"/>
          <p:cNvGrpSpPr/>
          <p:nvPr/>
        </p:nvGrpSpPr>
        <p:grpSpPr>
          <a:xfrm>
            <a:off x="771525" y="4190810"/>
            <a:ext cx="10477649" cy="1994134"/>
            <a:chOff x="771514" y="4191000"/>
            <a:chExt cx="10649100" cy="1932300"/>
          </a:xfrm>
        </p:grpSpPr>
        <p:sp>
          <p:nvSpPr>
            <p:cNvPr id="113" name="Google Shape;113;p15"/>
            <p:cNvSpPr/>
            <p:nvPr/>
          </p:nvSpPr>
          <p:spPr>
            <a:xfrm>
              <a:off x="771514" y="4191000"/>
              <a:ext cx="10649100" cy="1932300"/>
            </a:xfrm>
            <a:prstGeom prst="roundRect">
              <a:avLst>
                <a:gd fmla="val 8571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771514" y="4191000"/>
              <a:ext cx="10649100" cy="193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3810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EVIDENCIAS DEL PROYECTO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WEB &amp; ANDROID: </a:t>
              </a:r>
              <a:r>
                <a:rPr lang="en-US" sz="13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SSR en Vercel + app Android (API única)</a:t>
              </a:r>
              <a:endParaRPr sz="13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FIGMA:</a:t>
              </a:r>
              <a:r>
                <a:rPr b="0" lang="en-US" sz="13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 Prototipado </a:t>
              </a:r>
              <a:r>
                <a:rPr lang="en-US" sz="13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web y móvil</a:t>
              </a:r>
              <a:r>
                <a:rPr b="0" lang="en-US" sz="13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 de alta fidelidad</a:t>
              </a:r>
              <a:endParaRPr sz="13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PYTHON &amp; POWER BI: </a:t>
              </a:r>
              <a:r>
                <a:rPr lang="en-US" sz="13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Pipeline de datos y Power BI</a:t>
              </a:r>
              <a:endParaRPr sz="13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JIRA &amp; CONFLUENCE: </a:t>
              </a:r>
              <a:r>
                <a:rPr lang="en-US" sz="13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Planificación y wiki del proyecto intermodular</a:t>
              </a:r>
              <a:endParaRPr sz="13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-US" sz="13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GITHUB:</a:t>
              </a:r>
              <a:r>
                <a:rPr lang="en-US" sz="13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 Repo, capturas, APK e IPE.pdf</a:t>
              </a:r>
              <a:endParaRPr sz="13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6"/>
          <p:cNvGrpSpPr/>
          <p:nvPr/>
        </p:nvGrpSpPr>
        <p:grpSpPr>
          <a:xfrm>
            <a:off x="771525" y="581025"/>
            <a:ext cx="10649100" cy="333450"/>
            <a:chOff x="0" y="0"/>
            <a:chExt cx="10649100" cy="333450"/>
          </a:xfrm>
        </p:grpSpPr>
        <p:sp>
          <p:nvSpPr>
            <p:cNvPr id="121" name="Google Shape;121;p16"/>
            <p:cNvSpPr txBox="1"/>
            <p:nvPr/>
          </p:nvSpPr>
          <p:spPr>
            <a:xfrm>
              <a:off x="0" y="0"/>
              <a:ext cx="1064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02 // PROYECTO EMPRESARIAL</a:t>
              </a:r>
              <a:r>
                <a:rPr b="0"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 </a:t>
              </a:r>
              <a:r>
                <a:rPr lang="en-US" sz="1200">
                  <a:solidFill>
                    <a:srgbClr val="4B556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Plan de empresa (IPE II)</a:t>
              </a:r>
              <a:endParaRPr b="0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323850"/>
              <a:ext cx="10649100" cy="96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6"/>
          <p:cNvSpPr txBox="1"/>
          <p:nvPr/>
        </p:nvSpPr>
        <p:spPr>
          <a:xfrm>
            <a:off x="771525" y="104775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PROYECTO EMPRESARIAL (IPE II)</a:t>
            </a:r>
            <a:endParaRPr b="0" sz="360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grpSp>
        <p:nvGrpSpPr>
          <p:cNvPr id="124" name="Google Shape;124;p16"/>
          <p:cNvGrpSpPr/>
          <p:nvPr/>
        </p:nvGrpSpPr>
        <p:grpSpPr>
          <a:xfrm>
            <a:off x="771525" y="1905000"/>
            <a:ext cx="10649100" cy="666900"/>
            <a:chOff x="0" y="0"/>
            <a:chExt cx="10649100" cy="666900"/>
          </a:xfrm>
        </p:grpSpPr>
        <p:sp>
          <p:nvSpPr>
            <p:cNvPr id="125" name="Google Shape;125;p16"/>
            <p:cNvSpPr/>
            <p:nvPr/>
          </p:nvSpPr>
          <p:spPr>
            <a:xfrm>
              <a:off x="0" y="0"/>
              <a:ext cx="10649100" cy="666900"/>
            </a:xfrm>
            <a:prstGeom prst="roundRect">
              <a:avLst>
                <a:gd fmla="val 17142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762000" y="142875"/>
              <a:ext cx="9696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Plan de empresa GameSage</a:t>
              </a:r>
              <a:endParaRPr b="1" sz="1400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Documento integral: idea, mercado, competencia, estrategia comercial, organización y previsión económica.</a:t>
              </a:r>
              <a:endParaRPr b="0" sz="11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771525" y="2714625"/>
            <a:ext cx="10649100" cy="666900"/>
            <a:chOff x="0" y="0"/>
            <a:chExt cx="10649100" cy="666900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0"/>
              <a:ext cx="10649100" cy="666900"/>
            </a:xfrm>
            <a:prstGeom prst="roundRect">
              <a:avLst>
                <a:gd fmla="val 17142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storefront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762000" y="142875"/>
              <a:ext cx="9696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Negocio</a:t>
              </a:r>
              <a:endParaRPr b="1" sz="1400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Tienda online de claves digitales para PC/</a:t>
              </a:r>
              <a:r>
                <a:rPr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consolas</a:t>
              </a: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; mercado español enfocado a jugadores de 15 a 40 años.</a:t>
              </a:r>
              <a:endParaRPr b="0" sz="11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771525" y="3524250"/>
            <a:ext cx="10649100" cy="666900"/>
            <a:chOff x="0" y="0"/>
            <a:chExt cx="10649100" cy="666900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10649100" cy="666900"/>
            </a:xfrm>
            <a:prstGeom prst="roundRect">
              <a:avLst>
                <a:gd fmla="val 17142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762000" y="142875"/>
              <a:ext cx="9696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Dos pilares</a:t>
              </a:r>
              <a:endParaRPr b="1" sz="1400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Precios competitivos en claves oficiales reforzados por un asistente de IA para recomendaciones personalizadas.</a:t>
              </a:r>
              <a:endParaRPr b="0" sz="11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36" name="Google Shape;136;p16"/>
          <p:cNvGrpSpPr/>
          <p:nvPr/>
        </p:nvGrpSpPr>
        <p:grpSpPr>
          <a:xfrm>
            <a:off x="771525" y="4333875"/>
            <a:ext cx="10649100" cy="666900"/>
            <a:chOff x="0" y="0"/>
            <a:chExt cx="10649100" cy="666900"/>
          </a:xfrm>
        </p:grpSpPr>
        <p:sp>
          <p:nvSpPr>
            <p:cNvPr id="137" name="Google Shape;137;p16"/>
            <p:cNvSpPr/>
            <p:nvPr/>
          </p:nvSpPr>
          <p:spPr>
            <a:xfrm>
              <a:off x="0" y="0"/>
              <a:ext cx="10649100" cy="666900"/>
            </a:xfrm>
            <a:prstGeom prst="roundRect">
              <a:avLst>
                <a:gd fmla="val 17142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762000" y="142875"/>
              <a:ext cx="9696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DAFO</a:t>
              </a:r>
              <a:endParaRPr b="1" sz="1400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Diferenciación competitiva mediante IA y ahorro frente a gigantes como Steam, Epic e Instant Gaming.</a:t>
              </a:r>
              <a:endParaRPr b="0" sz="11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40" name="Google Shape;140;p16"/>
          <p:cNvGrpSpPr/>
          <p:nvPr/>
        </p:nvGrpSpPr>
        <p:grpSpPr>
          <a:xfrm>
            <a:off x="771525" y="5143500"/>
            <a:ext cx="10649100" cy="666900"/>
            <a:chOff x="0" y="0"/>
            <a:chExt cx="10649100" cy="666900"/>
          </a:xfrm>
        </p:grpSpPr>
        <p:sp>
          <p:nvSpPr>
            <p:cNvPr id="141" name="Google Shape;141;p16"/>
            <p:cNvSpPr/>
            <p:nvPr/>
          </p:nvSpPr>
          <p:spPr>
            <a:xfrm>
              <a:off x="0" y="0"/>
              <a:ext cx="10649100" cy="666900"/>
            </a:xfrm>
            <a:prstGeom prst="roundRect">
              <a:avLst>
                <a:gd fmla="val 17142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762000" y="142875"/>
              <a:ext cx="9696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Empresa y </a:t>
              </a:r>
              <a:r>
                <a:rPr b="1" lang="en-US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viabilidad</a:t>
              </a:r>
              <a:endParaRPr b="1" sz="1400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Constitución como </a:t>
              </a:r>
              <a:r>
                <a:rPr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sociedad limitada</a:t>
              </a: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 (SL); proyecto viable con una gestión financiera sólida y profesional.</a:t>
              </a:r>
              <a:endParaRPr b="0" sz="11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sp>
        <p:nvSpPr>
          <p:cNvPr id="144" name="Google Shape;144;p16"/>
          <p:cNvSpPr txBox="1"/>
          <p:nvPr/>
        </p:nvSpPr>
        <p:spPr>
          <a:xfrm>
            <a:off x="771525" y="6191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EDC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Documento completo: </a:t>
            </a:r>
            <a:r>
              <a:rPr b="0" lang="en-US" sz="1000" u="sng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IPE.pdf</a:t>
            </a:r>
            <a:endParaRPr b="0" sz="1000">
              <a:solidFill>
                <a:schemeClr val="accent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7"/>
          <p:cNvGrpSpPr/>
          <p:nvPr/>
        </p:nvGrpSpPr>
        <p:grpSpPr>
          <a:xfrm>
            <a:off x="762000" y="571500"/>
            <a:ext cx="10668000" cy="342975"/>
            <a:chOff x="0" y="0"/>
            <a:chExt cx="10668000" cy="342975"/>
          </a:xfrm>
        </p:grpSpPr>
        <p:sp>
          <p:nvSpPr>
            <p:cNvPr id="151" name="Google Shape;151;p17"/>
            <p:cNvSpPr txBox="1"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0</a:t>
              </a:r>
              <a:r>
                <a:rPr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3</a:t>
              </a:r>
              <a:r>
                <a:rPr b="0"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 // CONTROL DE VERSIONES</a:t>
              </a:r>
              <a:r>
                <a:rPr b="0"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 </a:t>
              </a:r>
              <a:r>
                <a:rPr lang="en-US" sz="1200">
                  <a:solidFill>
                    <a:srgbClr val="4B556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Repositorio GitHub y entregables</a:t>
              </a:r>
              <a:endParaRPr b="0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0" y="333375"/>
              <a:ext cx="10668000" cy="96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17"/>
          <p:cNvGrpSpPr/>
          <p:nvPr/>
        </p:nvGrpSpPr>
        <p:grpSpPr>
          <a:xfrm>
            <a:off x="762000" y="1143000"/>
            <a:ext cx="7620000" cy="809775"/>
            <a:chOff x="0" y="0"/>
            <a:chExt cx="7620000" cy="809775"/>
          </a:xfrm>
        </p:grpSpPr>
        <p:sp>
          <p:nvSpPr>
            <p:cNvPr id="154" name="Google Shape;154;p17"/>
            <p:cNvSpPr txBox="1"/>
            <p:nvPr/>
          </p:nvSpPr>
          <p:spPr>
            <a:xfrm>
              <a:off x="0" y="0"/>
              <a:ext cx="762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053">
                  <a:solidFill>
                    <a:srgbClr val="FFFFFF"/>
                  </a:solidFill>
                  <a:latin typeface="Urbanist ExtraBold"/>
                  <a:ea typeface="Urbanist ExtraBold"/>
                  <a:cs typeface="Urbanist ExtraBold"/>
                  <a:sym typeface="Urbanist ExtraBold"/>
                </a:rPr>
                <a:t>REPOSITORIO Y DOCUMENTACIÓN</a:t>
              </a:r>
              <a:endParaRPr b="0" sz="3053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endParaRPr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0" y="523875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Todo el </a:t>
              </a:r>
              <a:r>
                <a:rPr lang="en-US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proyecto intermodular </a:t>
              </a:r>
              <a:r>
                <a:rPr b="0" lang="en-US" sz="14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en GitHub: código, documentación y evidencias.</a:t>
              </a:r>
              <a:endParaRPr b="0" sz="14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sp>
        <p:nvSpPr>
          <p:cNvPr id="156" name="Google Shape;156;p17"/>
          <p:cNvSpPr/>
          <p:nvPr/>
        </p:nvSpPr>
        <p:spPr>
          <a:xfrm>
            <a:off x="4191000" y="2190750"/>
            <a:ext cx="7239000" cy="4076700"/>
          </a:xfrm>
          <a:prstGeom prst="roundRect">
            <a:avLst>
              <a:gd fmla="val 3738" name="adj"/>
            </a:avLst>
          </a:prstGeom>
          <a:solidFill>
            <a:srgbClr val="111827">
              <a:alpha val="60000"/>
            </a:srgbClr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191000" y="2190750"/>
            <a:ext cx="72390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 ESPACIO RESERVADO PARA VÍDEO ]</a:t>
            </a:r>
            <a:endParaRPr b="1" sz="1400">
              <a:solidFill>
                <a:srgbClr val="4B556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Recorrido por el repo en GitHub (60% focus)</a:t>
            </a:r>
            <a:endParaRPr b="0" sz="1000">
              <a:solidFill>
                <a:srgbClr val="4B556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58" name="Google Shape;158;p17"/>
          <p:cNvGrpSpPr/>
          <p:nvPr/>
        </p:nvGrpSpPr>
        <p:grpSpPr>
          <a:xfrm>
            <a:off x="762000" y="2190750"/>
            <a:ext cx="3048000" cy="1143000"/>
            <a:chOff x="0" y="0"/>
            <a:chExt cx="3048000" cy="1143000"/>
          </a:xfrm>
        </p:grpSpPr>
        <p:sp>
          <p:nvSpPr>
            <p:cNvPr id="159" name="Google Shape;159;p17"/>
            <p:cNvSpPr/>
            <p:nvPr/>
          </p:nvSpPr>
          <p:spPr>
            <a:xfrm>
              <a:off x="0" y="0"/>
              <a:ext cx="3048000" cy="1143000"/>
            </a:xfrm>
            <a:prstGeom prst="roundRect">
              <a:avLst>
                <a:gd fmla="val 10000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666750" y="142875"/>
              <a:ext cx="2190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Código</a:t>
              </a:r>
              <a:endParaRPr b="1" sz="1400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Web + API + Android</a:t>
              </a:r>
              <a:endParaRPr b="0" sz="11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62" name="Google Shape;162;p17"/>
          <p:cNvGrpSpPr/>
          <p:nvPr/>
        </p:nvGrpSpPr>
        <p:grpSpPr>
          <a:xfrm>
            <a:off x="762000" y="3476625"/>
            <a:ext cx="3048000" cy="1143000"/>
            <a:chOff x="0" y="0"/>
            <a:chExt cx="3048000" cy="1143000"/>
          </a:xfrm>
        </p:grpSpPr>
        <p:sp>
          <p:nvSpPr>
            <p:cNvPr id="163" name="Google Shape;163;p17"/>
            <p:cNvSpPr/>
            <p:nvPr/>
          </p:nvSpPr>
          <p:spPr>
            <a:xfrm>
              <a:off x="0" y="0"/>
              <a:ext cx="3048000" cy="1143000"/>
            </a:xfrm>
            <a:prstGeom prst="roundRect">
              <a:avLst>
                <a:gd fmla="val 10000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666750" y="142875"/>
              <a:ext cx="2190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Evidencias</a:t>
              </a:r>
              <a:endParaRPr b="1" sz="1400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docs/, capturas de pantalla</a:t>
              </a:r>
              <a:endParaRPr b="0" sz="11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762000" y="4762500"/>
            <a:ext cx="3048000" cy="1143000"/>
            <a:chOff x="0" y="0"/>
            <a:chExt cx="3048000" cy="1143000"/>
          </a:xfrm>
        </p:grpSpPr>
        <p:sp>
          <p:nvSpPr>
            <p:cNvPr id="167" name="Google Shape;167;p17"/>
            <p:cNvSpPr/>
            <p:nvPr/>
          </p:nvSpPr>
          <p:spPr>
            <a:xfrm>
              <a:off x="0" y="0"/>
              <a:ext cx="3048000" cy="1143000"/>
            </a:xfrm>
            <a:prstGeom prst="roundRect">
              <a:avLst>
                <a:gd fmla="val 10000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666750" y="142875"/>
              <a:ext cx="2190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Entregables</a:t>
              </a:r>
              <a:endParaRPr b="1" sz="1400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PDF Confluence/Jira, README</a:t>
              </a:r>
              <a:endParaRPr b="0" sz="11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sp>
        <p:nvSpPr>
          <p:cNvPr id="170" name="Google Shape;170;p17"/>
          <p:cNvSpPr txBox="1"/>
          <p:nvPr/>
        </p:nvSpPr>
        <p:spPr>
          <a:xfrm>
            <a:off x="762000" y="6096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sng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github.com/Almucero/Proyecto-Intermodular</a:t>
            </a:r>
            <a:endParaRPr b="0" sz="1000">
              <a:solidFill>
                <a:schemeClr val="accent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pic>
        <p:nvPicPr>
          <p:cNvPr id="171" name="Google Shape;171;p17" title="github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1000" y="2181306"/>
            <a:ext cx="7239000" cy="4071927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18"/>
          <p:cNvGrpSpPr/>
          <p:nvPr/>
        </p:nvGrpSpPr>
        <p:grpSpPr>
          <a:xfrm>
            <a:off x="762000" y="476250"/>
            <a:ext cx="10668000" cy="390600"/>
            <a:chOff x="762000" y="476250"/>
            <a:chExt cx="10668000" cy="390600"/>
          </a:xfrm>
        </p:grpSpPr>
        <p:sp>
          <p:nvSpPr>
            <p:cNvPr id="178" name="Google Shape;178;p18"/>
            <p:cNvSpPr txBox="1"/>
            <p:nvPr/>
          </p:nvSpPr>
          <p:spPr>
            <a:xfrm>
              <a:off x="762000" y="47625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04 // GESTIÓN DEL PROYECTO</a:t>
              </a:r>
              <a:r>
                <a:rPr b="0"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 </a:t>
              </a:r>
              <a:r>
                <a:rPr lang="en-US" sz="1200">
                  <a:solidFill>
                    <a:srgbClr val="4B556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Seguimiento ágil — Jira</a:t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762000" y="857250"/>
              <a:ext cx="10668000" cy="96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" name="Google Shape;180;p18"/>
          <p:cNvGrpSpPr/>
          <p:nvPr/>
        </p:nvGrpSpPr>
        <p:grpSpPr>
          <a:xfrm>
            <a:off x="762000" y="1143000"/>
            <a:ext cx="3810000" cy="857400"/>
            <a:chOff x="762000" y="1143000"/>
            <a:chExt cx="3810000" cy="857400"/>
          </a:xfrm>
        </p:grpSpPr>
        <p:sp>
          <p:nvSpPr>
            <p:cNvPr id="181" name="Google Shape;181;p18"/>
            <p:cNvSpPr txBox="1"/>
            <p:nvPr/>
          </p:nvSpPr>
          <p:spPr>
            <a:xfrm>
              <a:off x="762000" y="114300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570">
                  <a:solidFill>
                    <a:srgbClr val="FFFFFF"/>
                  </a:solidFill>
                  <a:latin typeface="Urbanist ExtraBold"/>
                  <a:ea typeface="Urbanist ExtraBold"/>
                  <a:cs typeface="Urbanist ExtraBold"/>
                  <a:sym typeface="Urbanist ExtraBold"/>
                </a:rPr>
                <a:t>JIRA</a:t>
              </a:r>
              <a:endParaRPr b="0" sz="357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endParaRPr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762000" y="17145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Gestión ágil del proyecto GameSage</a:t>
              </a:r>
              <a:endParaRPr b="0" sz="16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83" name="Google Shape;183;p18"/>
          <p:cNvGrpSpPr/>
          <p:nvPr/>
        </p:nvGrpSpPr>
        <p:grpSpPr>
          <a:xfrm>
            <a:off x="762000" y="2286000"/>
            <a:ext cx="3810000" cy="3714900"/>
            <a:chOff x="762000" y="2286000"/>
            <a:chExt cx="3810000" cy="3714900"/>
          </a:xfrm>
        </p:grpSpPr>
        <p:grpSp>
          <p:nvGrpSpPr>
            <p:cNvPr id="184" name="Google Shape;184;p18"/>
            <p:cNvGrpSpPr/>
            <p:nvPr/>
          </p:nvGrpSpPr>
          <p:grpSpPr>
            <a:xfrm>
              <a:off x="762000" y="2286000"/>
              <a:ext cx="3810000" cy="857400"/>
              <a:chOff x="0" y="0"/>
              <a:chExt cx="3810000" cy="857400"/>
            </a:xfrm>
          </p:grpSpPr>
          <p:sp>
            <p:nvSpPr>
              <p:cNvPr id="185" name="Google Shape;185;p18"/>
              <p:cNvSpPr/>
              <p:nvPr/>
            </p:nvSpPr>
            <p:spPr>
              <a:xfrm>
                <a:off x="0" y="0"/>
                <a:ext cx="38100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8"/>
              <p:cNvSpPr txBox="1"/>
              <p:nvPr/>
            </p:nvSpPr>
            <p:spPr>
              <a:xfrm>
                <a:off x="142875" y="273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8EDCF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view_kanban</a:t>
                </a:r>
                <a:endParaRPr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87" name="Google Shape;187;p18"/>
              <p:cNvSpPr txBox="1"/>
              <p:nvPr/>
            </p:nvSpPr>
            <p:spPr>
              <a:xfrm>
                <a:off x="619125" y="142875"/>
                <a:ext cx="3048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3F4F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Metodología — Scrum</a:t>
                </a:r>
                <a:endParaRPr b="1" sz="13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Epics, historias de usuario y tareas en sprints.</a:t>
                </a:r>
                <a:endParaRPr b="0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endParaRPr>
              </a:p>
            </p:txBody>
          </p:sp>
        </p:grpSp>
        <p:grpSp>
          <p:nvGrpSpPr>
            <p:cNvPr id="188" name="Google Shape;188;p18"/>
            <p:cNvGrpSpPr/>
            <p:nvPr/>
          </p:nvGrpSpPr>
          <p:grpSpPr>
            <a:xfrm>
              <a:off x="762000" y="3238500"/>
              <a:ext cx="3810000" cy="857400"/>
              <a:chOff x="0" y="0"/>
              <a:chExt cx="3810000" cy="857400"/>
            </a:xfrm>
          </p:grpSpPr>
          <p:sp>
            <p:nvSpPr>
              <p:cNvPr id="189" name="Google Shape;189;p18"/>
              <p:cNvSpPr/>
              <p:nvPr/>
            </p:nvSpPr>
            <p:spPr>
              <a:xfrm>
                <a:off x="0" y="0"/>
                <a:ext cx="38100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8"/>
              <p:cNvSpPr txBox="1"/>
              <p:nvPr/>
            </p:nvSpPr>
            <p:spPr>
              <a:xfrm>
                <a:off x="142875" y="273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8EDCF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rocket_launch</a:t>
                </a:r>
                <a:endParaRPr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91" name="Google Shape;191;p18"/>
              <p:cNvSpPr txBox="1"/>
              <p:nvPr/>
            </p:nvSpPr>
            <p:spPr>
              <a:xfrm>
                <a:off x="619125" y="142875"/>
                <a:ext cx="3048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3F4F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Proyecto PI — Seguimiento</a:t>
                </a:r>
                <a:endParaRPr b="1" sz="13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Planificación de todo el desarrollo (</a:t>
                </a:r>
                <a:r>
                  <a:rPr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web</a:t>
                </a:r>
                <a: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, </a:t>
                </a:r>
                <a:r>
                  <a:rPr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app</a:t>
                </a:r>
                <a: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, ipe, </a:t>
                </a:r>
                <a:r>
                  <a:rPr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docs, etc.</a:t>
                </a:r>
                <a: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).</a:t>
                </a:r>
                <a:endParaRPr b="0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endParaRPr>
              </a:p>
            </p:txBody>
          </p:sp>
        </p:grpSp>
        <p:grpSp>
          <p:nvGrpSpPr>
            <p:cNvPr id="192" name="Google Shape;192;p18"/>
            <p:cNvGrpSpPr/>
            <p:nvPr/>
          </p:nvGrpSpPr>
          <p:grpSpPr>
            <a:xfrm>
              <a:off x="762000" y="4191000"/>
              <a:ext cx="3810000" cy="857400"/>
              <a:chOff x="0" y="0"/>
              <a:chExt cx="3810000" cy="857400"/>
            </a:xfrm>
          </p:grpSpPr>
          <p:sp>
            <p:nvSpPr>
              <p:cNvPr id="193" name="Google Shape;193;p18"/>
              <p:cNvSpPr/>
              <p:nvPr/>
            </p:nvSpPr>
            <p:spPr>
              <a:xfrm>
                <a:off x="0" y="0"/>
                <a:ext cx="38100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8"/>
              <p:cNvSpPr txBox="1"/>
              <p:nvPr/>
            </p:nvSpPr>
            <p:spPr>
              <a:xfrm>
                <a:off x="142875" y="273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8EDCF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groups</a:t>
                </a:r>
                <a:endParaRPr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95" name="Google Shape;195;p18"/>
              <p:cNvSpPr txBox="1"/>
              <p:nvPr/>
            </p:nvSpPr>
            <p:spPr>
              <a:xfrm>
                <a:off x="619125" y="142875"/>
                <a:ext cx="3048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3F4F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Equipo — Trabajo </a:t>
                </a:r>
                <a:r>
                  <a:rPr b="1" lang="en-US" sz="1300">
                    <a:solidFill>
                      <a:srgbClr val="F3F4F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repartido</a:t>
                </a:r>
                <a:endParaRPr b="1" sz="13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Tablero, epics y </a:t>
                </a:r>
                <a:r>
                  <a:rPr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story points</a:t>
                </a:r>
                <a: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 visibles en Jira.</a:t>
                </a:r>
                <a:endParaRPr b="0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endParaRPr>
              </a:p>
            </p:txBody>
          </p:sp>
        </p:grpSp>
        <p:grpSp>
          <p:nvGrpSpPr>
            <p:cNvPr id="196" name="Google Shape;196;p18"/>
            <p:cNvGrpSpPr/>
            <p:nvPr/>
          </p:nvGrpSpPr>
          <p:grpSpPr>
            <a:xfrm>
              <a:off x="762000" y="5143500"/>
              <a:ext cx="3810000" cy="857400"/>
              <a:chOff x="0" y="0"/>
              <a:chExt cx="3810000" cy="857400"/>
            </a:xfrm>
          </p:grpSpPr>
          <p:sp>
            <p:nvSpPr>
              <p:cNvPr id="197" name="Google Shape;197;p18"/>
              <p:cNvSpPr/>
              <p:nvPr/>
            </p:nvSpPr>
            <p:spPr>
              <a:xfrm>
                <a:off x="0" y="0"/>
                <a:ext cx="3810000" cy="857400"/>
              </a:xfrm>
              <a:prstGeom prst="roundRect">
                <a:avLst>
                  <a:gd fmla="val 13333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8"/>
              <p:cNvSpPr txBox="1"/>
              <p:nvPr/>
            </p:nvSpPr>
            <p:spPr>
              <a:xfrm>
                <a:off x="142875" y="2731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8EDCF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picture_as_pdf</a:t>
                </a:r>
                <a:endParaRPr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99" name="Google Shape;199;p18"/>
              <p:cNvSpPr txBox="1"/>
              <p:nvPr/>
            </p:nvSpPr>
            <p:spPr>
              <a:xfrm>
                <a:off x="619125" y="142875"/>
                <a:ext cx="3048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3F4F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Entregable — Resumen PDF</a:t>
                </a:r>
                <a:endParaRPr b="1" sz="1300">
                  <a:solidFill>
                    <a:srgbClr val="F3F4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Incluye capturas del tablero y métricas de avance.</a:t>
                </a:r>
                <a:endParaRPr b="0" sz="110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endParaRPr>
              </a:p>
            </p:txBody>
          </p:sp>
        </p:grpSp>
      </p:grpSp>
      <p:pic>
        <p:nvPicPr>
          <p:cNvPr id="200" name="Google Shape;200;p18" title="jira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3000" y="2321788"/>
            <a:ext cx="6477000" cy="364333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" name="Google Shape;206;p19"/>
          <p:cNvGrpSpPr/>
          <p:nvPr/>
        </p:nvGrpSpPr>
        <p:grpSpPr>
          <a:xfrm>
            <a:off x="762000" y="571500"/>
            <a:ext cx="10668000" cy="342975"/>
            <a:chOff x="0" y="0"/>
            <a:chExt cx="10668000" cy="342975"/>
          </a:xfrm>
        </p:grpSpPr>
        <p:sp>
          <p:nvSpPr>
            <p:cNvPr id="207" name="Google Shape;207;p19"/>
            <p:cNvSpPr txBox="1"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05 // DOCUMENTACIÓN TÉCNICA</a:t>
              </a:r>
              <a:r>
                <a:rPr b="0"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 </a:t>
              </a:r>
              <a:r>
                <a:rPr lang="en-US" sz="1200">
                  <a:solidFill>
                    <a:srgbClr val="4B556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Wiki del proyecto — Confluence</a:t>
              </a:r>
              <a:endParaRPr b="0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0" y="333375"/>
              <a:ext cx="10668000" cy="96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19"/>
          <p:cNvGrpSpPr/>
          <p:nvPr/>
        </p:nvGrpSpPr>
        <p:grpSpPr>
          <a:xfrm>
            <a:off x="7620000" y="1143000"/>
            <a:ext cx="3810150" cy="4953150"/>
            <a:chOff x="0" y="0"/>
            <a:chExt cx="3810150" cy="4953150"/>
          </a:xfrm>
        </p:grpSpPr>
        <p:sp>
          <p:nvSpPr>
            <p:cNvPr id="210" name="Google Shape;210;p19"/>
            <p:cNvSpPr txBox="1"/>
            <p:nvPr/>
          </p:nvSpPr>
          <p:spPr>
            <a:xfrm>
              <a:off x="0" y="0"/>
              <a:ext cx="381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060">
                  <a:solidFill>
                    <a:srgbClr val="FFFFFF"/>
                  </a:solidFill>
                  <a:latin typeface="Urbanist ExtraBold"/>
                  <a:ea typeface="Urbanist ExtraBold"/>
                  <a:cs typeface="Urbanist ExtraBold"/>
                  <a:sym typeface="Urbanist ExtraBold"/>
                </a:rPr>
                <a:t>CONFLUENCE</a:t>
              </a:r>
              <a:endParaRPr b="0" sz="306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60">
                  <a:solidFill>
                    <a:srgbClr val="9CA3A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Documentación técnica y de producto — GameSage</a:t>
              </a:r>
              <a:endParaRPr b="0" sz="136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grpSp>
          <p:nvGrpSpPr>
            <p:cNvPr id="211" name="Google Shape;211;p19"/>
            <p:cNvGrpSpPr/>
            <p:nvPr/>
          </p:nvGrpSpPr>
          <p:grpSpPr>
            <a:xfrm>
              <a:off x="0" y="1000125"/>
              <a:ext cx="3476775" cy="304800"/>
              <a:chOff x="0" y="0"/>
              <a:chExt cx="3476775" cy="304800"/>
            </a:xfrm>
          </p:grpSpPr>
          <p:sp>
            <p:nvSpPr>
              <p:cNvPr id="212" name="Google Shape;212;p19"/>
              <p:cNvSpPr/>
              <p:nvPr/>
            </p:nvSpPr>
            <p:spPr>
              <a:xfrm>
                <a:off x="0" y="0"/>
                <a:ext cx="9525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8EDC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9"/>
              <p:cNvSpPr txBox="1"/>
              <p:nvPr/>
            </p:nvSpPr>
            <p:spPr>
              <a:xfrm>
                <a:off x="0" y="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35">
                    <a:solidFill>
                      <a:srgbClr val="8EDCF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Espacio PI</a:t>
                </a:r>
                <a:endParaRPr b="1" sz="935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14" name="Google Shape;214;p19"/>
              <p:cNvSpPr/>
              <p:nvPr/>
            </p:nvSpPr>
            <p:spPr>
              <a:xfrm>
                <a:off x="1047750" y="0"/>
                <a:ext cx="12858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8EDC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9"/>
              <p:cNvSpPr txBox="1"/>
              <p:nvPr/>
            </p:nvSpPr>
            <p:spPr>
              <a:xfrm>
                <a:off x="1047750" y="0"/>
                <a:ext cx="1285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35">
                    <a:solidFill>
                      <a:srgbClr val="8EDCF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Wiki del proyecto</a:t>
                </a:r>
                <a:endParaRPr b="1" sz="935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16" name="Google Shape;216;p19"/>
              <p:cNvSpPr/>
              <p:nvPr/>
            </p:nvSpPr>
            <p:spPr>
              <a:xfrm>
                <a:off x="2428875" y="0"/>
                <a:ext cx="10479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8EDC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9"/>
              <p:cNvSpPr txBox="1"/>
              <p:nvPr/>
            </p:nvSpPr>
            <p:spPr>
              <a:xfrm>
                <a:off x="2428875" y="0"/>
                <a:ext cx="10479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35">
                    <a:solidFill>
                      <a:srgbClr val="8EDCF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PDF unificado</a:t>
                </a:r>
                <a:endParaRPr b="1" sz="935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sp>
          <p:nvSpPr>
            <p:cNvPr id="218" name="Google Shape;218;p19"/>
            <p:cNvSpPr txBox="1"/>
            <p:nvPr/>
          </p:nvSpPr>
          <p:spPr>
            <a:xfrm>
              <a:off x="0" y="1476375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5">
                  <a:solidFill>
                    <a:srgbClr val="D1D5DB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Documentación centralizada del </a:t>
              </a:r>
              <a:r>
                <a:rPr lang="en-US" sz="1105">
                  <a:solidFill>
                    <a:srgbClr val="D1D5DB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proyecto intermodular</a:t>
              </a:r>
              <a:r>
                <a:rPr b="0" lang="en-US" sz="1105">
                  <a:solidFill>
                    <a:srgbClr val="D1D5DB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: arquitectura, web/API, Android, diseño, guías y gestión; +40 páginas en el espacio PI.</a:t>
              </a:r>
              <a:endParaRPr b="0" sz="1105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grpSp>
          <p:nvGrpSpPr>
            <p:cNvPr id="219" name="Google Shape;219;p19"/>
            <p:cNvGrpSpPr/>
            <p:nvPr/>
          </p:nvGrpSpPr>
          <p:grpSpPr>
            <a:xfrm>
              <a:off x="0" y="2190750"/>
              <a:ext cx="3810150" cy="2762400"/>
              <a:chOff x="0" y="0"/>
              <a:chExt cx="3810150" cy="2762400"/>
            </a:xfrm>
          </p:grpSpPr>
          <p:grpSp>
            <p:nvGrpSpPr>
              <p:cNvPr id="220" name="Google Shape;220;p19"/>
              <p:cNvGrpSpPr/>
              <p:nvPr/>
            </p:nvGrpSpPr>
            <p:grpSpPr>
              <a:xfrm>
                <a:off x="0" y="0"/>
                <a:ext cx="3810150" cy="476400"/>
                <a:chOff x="0" y="0"/>
                <a:chExt cx="3810150" cy="476400"/>
              </a:xfrm>
            </p:grpSpPr>
            <p:sp>
              <p:nvSpPr>
                <p:cNvPr id="221" name="Google Shape;221;p19"/>
                <p:cNvSpPr txBox="1"/>
                <p:nvPr/>
              </p:nvSpPr>
              <p:spPr>
                <a:xfrm>
                  <a:off x="0" y="32131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200">
                      <a:solidFill>
                        <a:srgbClr val="8EDCFC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account_tree</a:t>
                  </a:r>
                  <a:endParaRPr sz="2200">
                    <a:solidFill>
                      <a:srgbClr val="8EDCF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222" name="Google Shape;222;p19"/>
                <p:cNvSpPr txBox="1"/>
                <p:nvPr/>
              </p:nvSpPr>
              <p:spPr>
                <a:xfrm>
                  <a:off x="476250" y="0"/>
                  <a:ext cx="33339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5">
                      <a:solidFill>
                        <a:srgbClr val="F3F4F6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Contenido</a:t>
                  </a:r>
                  <a:endParaRPr b="1" sz="1105">
                    <a:solidFill>
                      <a:srgbClr val="F3F4F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35">
                      <a:solidFill>
                        <a:srgbClr val="9CA3AF"/>
                      </a:solidFill>
                      <a:latin typeface="Plus Jakarta Sans Light"/>
                      <a:ea typeface="Plus Jakarta Sans Light"/>
                      <a:cs typeface="Plus Jakarta Sans Light"/>
                      <a:sym typeface="Plus Jakarta Sans Light"/>
                    </a:rPr>
                    <a:t>Visión, arquitectura, flujos web y móvil, Figma, Power BI.</a:t>
                  </a:r>
                  <a:endParaRPr b="0" sz="935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endParaRPr>
                </a:p>
              </p:txBody>
            </p:sp>
          </p:grpSp>
          <p:grpSp>
            <p:nvGrpSpPr>
              <p:cNvPr id="223" name="Google Shape;223;p19"/>
              <p:cNvGrpSpPr/>
              <p:nvPr/>
            </p:nvGrpSpPr>
            <p:grpSpPr>
              <a:xfrm>
                <a:off x="0" y="762000"/>
                <a:ext cx="3810150" cy="476400"/>
                <a:chOff x="0" y="0"/>
                <a:chExt cx="3810150" cy="476400"/>
              </a:xfrm>
            </p:grpSpPr>
            <p:sp>
              <p:nvSpPr>
                <p:cNvPr id="224" name="Google Shape;224;p19"/>
                <p:cNvSpPr txBox="1"/>
                <p:nvPr/>
              </p:nvSpPr>
              <p:spPr>
                <a:xfrm>
                  <a:off x="0" y="32131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200">
                      <a:solidFill>
                        <a:srgbClr val="8EDCFC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gavel</a:t>
                  </a:r>
                  <a:endParaRPr sz="2200">
                    <a:solidFill>
                      <a:srgbClr val="8EDCF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225" name="Google Shape;225;p19"/>
                <p:cNvSpPr txBox="1"/>
                <p:nvPr/>
              </p:nvSpPr>
              <p:spPr>
                <a:xfrm>
                  <a:off x="476250" y="0"/>
                  <a:ext cx="33339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5">
                      <a:solidFill>
                        <a:srgbClr val="F3F4F6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Para el tribunal</a:t>
                  </a:r>
                  <a:endParaRPr b="1" sz="1105">
                    <a:solidFill>
                      <a:srgbClr val="F3F4F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35">
                      <a:solidFill>
                        <a:srgbClr val="9CA3AF"/>
                      </a:solidFill>
                      <a:latin typeface="Plus Jakarta Sans Light"/>
                      <a:ea typeface="Plus Jakarta Sans Light"/>
                      <a:cs typeface="Plus Jakarta Sans Light"/>
                      <a:sym typeface="Plus Jakarta Sans Light"/>
                    </a:rPr>
                    <a:t>README del repo + export PDF del espacio completo.</a:t>
                  </a:r>
                  <a:endParaRPr b="0" sz="935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endParaRPr>
                </a:p>
              </p:txBody>
            </p:sp>
          </p:grpSp>
          <p:grpSp>
            <p:nvGrpSpPr>
              <p:cNvPr id="226" name="Google Shape;226;p19"/>
              <p:cNvGrpSpPr/>
              <p:nvPr/>
            </p:nvGrpSpPr>
            <p:grpSpPr>
              <a:xfrm>
                <a:off x="0" y="1524000"/>
                <a:ext cx="3810150" cy="476400"/>
                <a:chOff x="0" y="0"/>
                <a:chExt cx="3810150" cy="476400"/>
              </a:xfrm>
            </p:grpSpPr>
            <p:sp>
              <p:nvSpPr>
                <p:cNvPr id="227" name="Google Shape;227;p19"/>
                <p:cNvSpPr txBox="1"/>
                <p:nvPr/>
              </p:nvSpPr>
              <p:spPr>
                <a:xfrm>
                  <a:off x="0" y="32131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200">
                      <a:solidFill>
                        <a:srgbClr val="8EDCFC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language</a:t>
                  </a:r>
                  <a:endParaRPr sz="2200">
                    <a:solidFill>
                      <a:srgbClr val="8EDCF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228" name="Google Shape;228;p19"/>
                <p:cNvSpPr txBox="1"/>
                <p:nvPr/>
              </p:nvSpPr>
              <p:spPr>
                <a:xfrm>
                  <a:off x="476250" y="0"/>
                  <a:ext cx="33339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5">
                      <a:solidFill>
                        <a:srgbClr val="F3F4F6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Enlace vivo</a:t>
                  </a:r>
                  <a:endParaRPr b="1" sz="1105">
                    <a:solidFill>
                      <a:srgbClr val="F3F4F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35">
                      <a:solidFill>
                        <a:srgbClr val="9CA3AF"/>
                      </a:solidFill>
                      <a:latin typeface="Plus Jakarta Sans Light"/>
                      <a:ea typeface="Plus Jakarta Sans Light"/>
                      <a:cs typeface="Plus Jakarta Sans Light"/>
                      <a:sym typeface="Plus Jakarta Sans Light"/>
                    </a:rPr>
                    <a:t>Wiki navegable en Atlassian (espacio Proyecto Intermodular).</a:t>
                  </a:r>
                  <a:endParaRPr b="0" sz="935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endParaRPr>
                </a:p>
              </p:txBody>
            </p:sp>
          </p:grpSp>
          <p:grpSp>
            <p:nvGrpSpPr>
              <p:cNvPr id="229" name="Google Shape;229;p19"/>
              <p:cNvGrpSpPr/>
              <p:nvPr/>
            </p:nvGrpSpPr>
            <p:grpSpPr>
              <a:xfrm>
                <a:off x="0" y="2286000"/>
                <a:ext cx="3810150" cy="476400"/>
                <a:chOff x="0" y="0"/>
                <a:chExt cx="3810150" cy="476400"/>
              </a:xfrm>
            </p:grpSpPr>
            <p:sp>
              <p:nvSpPr>
                <p:cNvPr id="230" name="Google Shape;230;p19"/>
                <p:cNvSpPr txBox="1"/>
                <p:nvPr/>
              </p:nvSpPr>
              <p:spPr>
                <a:xfrm>
                  <a:off x="0" y="32131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200">
                      <a:solidFill>
                        <a:srgbClr val="8EDCFC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auto_awesome_mosaic</a:t>
                  </a:r>
                  <a:endParaRPr sz="2200">
                    <a:solidFill>
                      <a:srgbClr val="8EDCF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231" name="Google Shape;231;p19"/>
                <p:cNvSpPr txBox="1"/>
                <p:nvPr/>
              </p:nvSpPr>
              <p:spPr>
                <a:xfrm>
                  <a:off x="476250" y="0"/>
                  <a:ext cx="33339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5">
                      <a:solidFill>
                        <a:srgbClr val="F3F4F6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Complemento</a:t>
                  </a:r>
                  <a:endParaRPr b="1" sz="1105">
                    <a:solidFill>
                      <a:srgbClr val="F3F4F6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935">
                      <a:solidFill>
                        <a:srgbClr val="9CA3AF"/>
                      </a:solidFill>
                      <a:latin typeface="Plus Jakarta Sans Light"/>
                      <a:ea typeface="Plus Jakarta Sans Light"/>
                      <a:cs typeface="Plus Jakarta Sans Light"/>
                      <a:sym typeface="Plus Jakarta Sans Light"/>
                    </a:rPr>
                    <a:t>Capturas y diagramas también en el repositorio docs/.</a:t>
                  </a:r>
                  <a:endParaRPr b="0" sz="935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endParaRPr>
                </a:p>
              </p:txBody>
            </p:sp>
          </p:grpSp>
        </p:grpSp>
      </p:grpSp>
      <p:pic>
        <p:nvPicPr>
          <p:cNvPr id="232" name="Google Shape;232;p19" title="confluence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1707450"/>
            <a:ext cx="6477000" cy="364330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20"/>
          <p:cNvGrpSpPr/>
          <p:nvPr/>
        </p:nvGrpSpPr>
        <p:grpSpPr>
          <a:xfrm>
            <a:off x="762000" y="476250"/>
            <a:ext cx="10668000" cy="342975"/>
            <a:chOff x="0" y="0"/>
            <a:chExt cx="10668000" cy="342975"/>
          </a:xfrm>
        </p:grpSpPr>
        <p:sp>
          <p:nvSpPr>
            <p:cNvPr id="238" name="Google Shape;238;p20"/>
            <p:cNvSpPr txBox="1"/>
            <p:nvPr/>
          </p:nvSpPr>
          <p:spPr>
            <a:xfrm>
              <a:off x="0" y="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06 // BUSINESS INTELLIGENCE</a:t>
              </a:r>
              <a:r>
                <a:rPr b="0"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 </a:t>
              </a:r>
              <a:r>
                <a:rPr lang="en-US" sz="1200">
                  <a:solidFill>
                    <a:srgbClr val="4B556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Pipeline de datos — Python y Pandas</a:t>
              </a:r>
              <a:endParaRPr b="0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0" y="333375"/>
              <a:ext cx="10668000" cy="96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" name="Google Shape;240;p20"/>
          <p:cNvSpPr txBox="1"/>
          <p:nvPr/>
        </p:nvSpPr>
        <p:spPr>
          <a:xfrm>
            <a:off x="762000" y="95250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SCRIPT </a:t>
            </a:r>
            <a:r>
              <a:rPr b="0" lang="en-US" sz="3200">
                <a:solidFill>
                  <a:srgbClr val="8EDC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PYTHON &amp; PANDAS</a:t>
            </a:r>
            <a:endParaRPr b="0" sz="320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grpSp>
        <p:nvGrpSpPr>
          <p:cNvPr id="241" name="Google Shape;241;p20"/>
          <p:cNvGrpSpPr/>
          <p:nvPr/>
        </p:nvGrpSpPr>
        <p:grpSpPr>
          <a:xfrm>
            <a:off x="5905500" y="1714500"/>
            <a:ext cx="5524500" cy="3238500"/>
            <a:chOff x="0" y="0"/>
            <a:chExt cx="5524500" cy="3238500"/>
          </a:xfrm>
        </p:grpSpPr>
        <p:grpSp>
          <p:nvGrpSpPr>
            <p:cNvPr id="242" name="Google Shape;242;p20"/>
            <p:cNvGrpSpPr/>
            <p:nvPr/>
          </p:nvGrpSpPr>
          <p:grpSpPr>
            <a:xfrm>
              <a:off x="0" y="0"/>
              <a:ext cx="5524500" cy="952500"/>
              <a:chOff x="0" y="0"/>
              <a:chExt cx="5524500" cy="952500"/>
            </a:xfrm>
          </p:grpSpPr>
          <p:sp>
            <p:nvSpPr>
              <p:cNvPr id="243" name="Google Shape;243;p20"/>
              <p:cNvSpPr/>
              <p:nvPr/>
            </p:nvSpPr>
            <p:spPr>
              <a:xfrm>
                <a:off x="0" y="0"/>
                <a:ext cx="5524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0"/>
              <p:cNvSpPr txBox="1"/>
              <p:nvPr/>
            </p:nvSpPr>
            <p:spPr>
              <a:xfrm>
                <a:off x="190500" y="142875"/>
                <a:ext cx="5143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8EDCF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1. Instalar dependencias</a:t>
                </a:r>
                <a:endParaRPr b="1" sz="15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Gestión de librerías necesarias para el análisis:</a:t>
                </a:r>
                <a:b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</a:br>
                <a:r>
                  <a:rPr b="1" lang="en-US" sz="1000">
                    <a:solidFill>
                      <a:srgbClr val="8EDC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pip install pandas openpyxl psycopg2-binary</a:t>
                </a:r>
                <a:endParaRPr b="1" sz="1100">
                  <a:solidFill>
                    <a:srgbClr val="9CA3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245" name="Google Shape;245;p20"/>
            <p:cNvGrpSpPr/>
            <p:nvPr/>
          </p:nvGrpSpPr>
          <p:grpSpPr>
            <a:xfrm>
              <a:off x="0" y="1143000"/>
              <a:ext cx="5524500" cy="952500"/>
              <a:chOff x="0" y="0"/>
              <a:chExt cx="5524500" cy="952500"/>
            </a:xfrm>
          </p:grpSpPr>
          <p:sp>
            <p:nvSpPr>
              <p:cNvPr id="246" name="Google Shape;246;p20"/>
              <p:cNvSpPr/>
              <p:nvPr/>
            </p:nvSpPr>
            <p:spPr>
              <a:xfrm>
                <a:off x="0" y="0"/>
                <a:ext cx="5524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0"/>
              <p:cNvSpPr txBox="1"/>
              <p:nvPr/>
            </p:nvSpPr>
            <p:spPr>
              <a:xfrm>
                <a:off x="190500" y="142875"/>
                <a:ext cx="5143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8EDCF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2. Ejecutar el </a:t>
                </a:r>
                <a:r>
                  <a:rPr b="1" lang="en-US" sz="1500">
                    <a:solidFill>
                      <a:srgbClr val="8EDCF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script</a:t>
                </a:r>
                <a:endParaRPr b="1" sz="15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Lógica de extracción y transformación de datos:</a:t>
                </a:r>
                <a:b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</a:br>
                <a:r>
                  <a:rPr b="1" lang="en-US" sz="1000">
                    <a:solidFill>
                      <a:srgbClr val="8EDC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python …/jsonToExcel.py</a:t>
                </a:r>
                <a:r>
                  <a:rPr b="1" lang="en-US" sz="1100">
                    <a:solidFill>
                      <a:srgbClr val="9CA3A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</a:t>
                </a:r>
                <a: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y </a:t>
                </a:r>
                <a:r>
                  <a:rPr b="1" lang="en-US" sz="1000">
                    <a:solidFill>
                      <a:srgbClr val="8EDC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postgreToExcel.py</a:t>
                </a:r>
                <a:endParaRPr b="1" sz="1100">
                  <a:solidFill>
                    <a:srgbClr val="9CA3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248" name="Google Shape;248;p20"/>
            <p:cNvGrpSpPr/>
            <p:nvPr/>
          </p:nvGrpSpPr>
          <p:grpSpPr>
            <a:xfrm>
              <a:off x="0" y="2286000"/>
              <a:ext cx="5524500" cy="952500"/>
              <a:chOff x="0" y="0"/>
              <a:chExt cx="5524500" cy="952500"/>
            </a:xfrm>
          </p:grpSpPr>
          <p:sp>
            <p:nvSpPr>
              <p:cNvPr id="249" name="Google Shape;249;p20"/>
              <p:cNvSpPr/>
              <p:nvPr/>
            </p:nvSpPr>
            <p:spPr>
              <a:xfrm>
                <a:off x="0" y="0"/>
                <a:ext cx="5524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0"/>
              <p:cNvSpPr txBox="1"/>
              <p:nvPr/>
            </p:nvSpPr>
            <p:spPr>
              <a:xfrm>
                <a:off x="190500" y="142875"/>
                <a:ext cx="5143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8EDCF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3. Salida del proceso</a:t>
                </a:r>
                <a:endParaRPr b="1" sz="15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  <a:t>Exportación directa a entorno local/servidor:</a:t>
                </a:r>
                <a:br>
                  <a:rPr b="0" lang="en-US" sz="1100">
                    <a:solidFill>
                      <a:srgbClr val="9CA3AF"/>
                    </a:solidFill>
                    <a:latin typeface="Plus Jakarta Sans Light"/>
                    <a:ea typeface="Plus Jakarta Sans Light"/>
                    <a:cs typeface="Plus Jakarta Sans Light"/>
                    <a:sym typeface="Plus Jakarta Sans Light"/>
                  </a:rPr>
                </a:br>
                <a:r>
                  <a:rPr b="1" lang="en-US" sz="1000">
                    <a:solidFill>
                      <a:srgbClr val="8EDCF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backend-data/exports/processed_database.xlsx</a:t>
                </a:r>
                <a:endParaRPr b="1" sz="1100">
                  <a:solidFill>
                    <a:srgbClr val="9CA3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251" name="Google Shape;251;p20" title="piton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100" y="1714500"/>
            <a:ext cx="4970525" cy="3264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52" name="Google Shape;252;p20"/>
          <p:cNvGrpSpPr/>
          <p:nvPr/>
        </p:nvGrpSpPr>
        <p:grpSpPr>
          <a:xfrm>
            <a:off x="762000" y="5143500"/>
            <a:ext cx="10668000" cy="1333500"/>
            <a:chOff x="0" y="0"/>
            <a:chExt cx="10668000" cy="1333500"/>
          </a:xfrm>
        </p:grpSpPr>
        <p:sp>
          <p:nvSpPr>
            <p:cNvPr id="253" name="Google Shape;253;p20"/>
            <p:cNvSpPr/>
            <p:nvPr/>
          </p:nvSpPr>
          <p:spPr>
            <a:xfrm>
              <a:off x="0" y="0"/>
              <a:ext cx="10668000" cy="1333500"/>
            </a:xfrm>
            <a:prstGeom prst="roundRect">
              <a:avLst>
                <a:gd fmla="val 8571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0" y="0"/>
              <a:ext cx="10668000" cy="285900"/>
            </a:xfrm>
            <a:prstGeom prst="roundRect">
              <a:avLst>
                <a:gd fmla="val 40000" name="adj"/>
              </a:avLst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190500" y="476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EMAIL</a:t>
              </a:r>
              <a:endParaRPr b="1" sz="9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952800" y="476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PASSWORD</a:t>
              </a:r>
              <a:endParaRPr b="1" sz="9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1737600" y="47625"/>
              <a:ext cx="857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NAME</a:t>
              </a:r>
              <a:endParaRPr b="1" sz="9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2253600" y="476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SURNAME</a:t>
              </a:r>
              <a:endParaRPr b="1" sz="9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3015525" y="47625"/>
              <a:ext cx="857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NICKNAME</a:t>
              </a:r>
              <a:endParaRPr b="1" sz="9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3773400" y="47625"/>
              <a:ext cx="66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BALANCE</a:t>
              </a:r>
              <a:endParaRPr b="1" sz="9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4444350" y="47625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POINTS</a:t>
              </a:r>
              <a:endParaRPr b="1" sz="9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6704425" y="47625"/>
              <a:ext cx="1633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CITY                      POSTAL</a:t>
              </a:r>
              <a:endParaRPr b="1" sz="9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8036150" y="47625"/>
              <a:ext cx="249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COUNTRY           ACCOUNT AT           FULL NAME      </a:t>
              </a:r>
              <a:endParaRPr b="1" sz="9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264" name="Google Shape;264;p20"/>
            <p:cNvGrpSpPr/>
            <p:nvPr/>
          </p:nvGrpSpPr>
          <p:grpSpPr>
            <a:xfrm>
              <a:off x="190500" y="381000"/>
              <a:ext cx="10337150" cy="190500"/>
              <a:chOff x="0" y="0"/>
              <a:chExt cx="10337150" cy="190500"/>
            </a:xfrm>
          </p:grpSpPr>
          <p:sp>
            <p:nvSpPr>
              <p:cNvPr id="265" name="Google Shape;265;p20"/>
              <p:cNvSpPr txBox="1"/>
              <p:nvPr/>
            </p:nvSpPr>
            <p:spPr>
              <a:xfrm>
                <a:off x="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Carlos@g</a:t>
                </a:r>
                <a:r>
                  <a:rPr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…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66" name="Google Shape;266;p20"/>
              <p:cNvSpPr txBox="1"/>
              <p:nvPr/>
            </p:nvSpPr>
            <p:spPr>
              <a:xfrm>
                <a:off x="76230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********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67" name="Google Shape;267;p20"/>
              <p:cNvSpPr txBox="1"/>
              <p:nvPr/>
            </p:nvSpPr>
            <p:spPr>
              <a:xfrm>
                <a:off x="1547100" y="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Carlos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68" name="Google Shape;268;p20"/>
              <p:cNvSpPr txBox="1"/>
              <p:nvPr/>
            </p:nvSpPr>
            <p:spPr>
              <a:xfrm>
                <a:off x="206310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García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69" name="Google Shape;269;p20"/>
              <p:cNvSpPr txBox="1"/>
              <p:nvPr/>
            </p:nvSpPr>
            <p:spPr>
              <a:xfrm>
                <a:off x="2825025" y="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carlosG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70" name="Google Shape;270;p20"/>
              <p:cNvSpPr txBox="1"/>
              <p:nvPr/>
            </p:nvSpPr>
            <p:spPr>
              <a:xfrm>
                <a:off x="3582900" y="0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150,5€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71" name="Google Shape;271;p20"/>
              <p:cNvSpPr txBox="1"/>
              <p:nvPr/>
            </p:nvSpPr>
            <p:spPr>
              <a:xfrm>
                <a:off x="4253850" y="0"/>
                <a:ext cx="57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5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72" name="Google Shape;272;p20"/>
              <p:cNvSpPr txBox="1"/>
              <p:nvPr/>
            </p:nvSpPr>
            <p:spPr>
              <a:xfrm>
                <a:off x="4792650" y="0"/>
                <a:ext cx="18798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Calle Mayor</a:t>
                </a:r>
                <a:r>
                  <a:rPr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         Piso 3, Puerta…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73" name="Google Shape;273;p20"/>
              <p:cNvSpPr txBox="1"/>
              <p:nvPr/>
            </p:nvSpPr>
            <p:spPr>
              <a:xfrm>
                <a:off x="6513925" y="0"/>
                <a:ext cx="1633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Madrid                 </a:t>
                </a:r>
                <a:r>
                  <a:rPr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28013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74" name="Google Shape;274;p20"/>
              <p:cNvSpPr txBox="1"/>
              <p:nvPr/>
            </p:nvSpPr>
            <p:spPr>
              <a:xfrm>
                <a:off x="7845650" y="0"/>
                <a:ext cx="249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Spain                        @carlosG                       Carlos García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275" name="Google Shape;275;p20"/>
            <p:cNvGrpSpPr/>
            <p:nvPr/>
          </p:nvGrpSpPr>
          <p:grpSpPr>
            <a:xfrm>
              <a:off x="190500" y="666750"/>
              <a:ext cx="10337150" cy="190500"/>
              <a:chOff x="0" y="0"/>
              <a:chExt cx="10337150" cy="190500"/>
            </a:xfrm>
          </p:grpSpPr>
          <p:sp>
            <p:nvSpPr>
              <p:cNvPr id="276" name="Google Shape;276;p20"/>
              <p:cNvSpPr txBox="1"/>
              <p:nvPr/>
            </p:nvSpPr>
            <p:spPr>
              <a:xfrm>
                <a:off x="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Maria@g</a:t>
                </a:r>
                <a:r>
                  <a:rPr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m…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77" name="Google Shape;277;p20"/>
              <p:cNvSpPr txBox="1"/>
              <p:nvPr/>
            </p:nvSpPr>
            <p:spPr>
              <a:xfrm>
                <a:off x="76230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********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78" name="Google Shape;278;p20"/>
              <p:cNvSpPr txBox="1"/>
              <p:nvPr/>
            </p:nvSpPr>
            <p:spPr>
              <a:xfrm>
                <a:off x="1547100" y="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María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79" name="Google Shape;279;p20"/>
              <p:cNvSpPr txBox="1"/>
              <p:nvPr/>
            </p:nvSpPr>
            <p:spPr>
              <a:xfrm>
                <a:off x="206310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López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80" name="Google Shape;280;p20"/>
              <p:cNvSpPr txBox="1"/>
              <p:nvPr/>
            </p:nvSpPr>
            <p:spPr>
              <a:xfrm>
                <a:off x="2825025" y="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maria_l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81" name="Google Shape;281;p20"/>
              <p:cNvSpPr txBox="1"/>
              <p:nvPr/>
            </p:nvSpPr>
            <p:spPr>
              <a:xfrm>
                <a:off x="3582900" y="0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75,0€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82" name="Google Shape;282;p20"/>
              <p:cNvSpPr txBox="1"/>
              <p:nvPr/>
            </p:nvSpPr>
            <p:spPr>
              <a:xfrm>
                <a:off x="4253850" y="0"/>
                <a:ext cx="57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180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83" name="Google Shape;283;p20"/>
              <p:cNvSpPr txBox="1"/>
              <p:nvPr/>
            </p:nvSpPr>
            <p:spPr>
              <a:xfrm>
                <a:off x="4792650" y="0"/>
                <a:ext cx="180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Avenida  Dia…     N/A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84" name="Google Shape;284;p20"/>
              <p:cNvSpPr txBox="1"/>
              <p:nvPr/>
            </p:nvSpPr>
            <p:spPr>
              <a:xfrm>
                <a:off x="6513925" y="0"/>
                <a:ext cx="1633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Barcelona        08019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85" name="Google Shape;285;p20"/>
              <p:cNvSpPr txBox="1"/>
              <p:nvPr/>
            </p:nvSpPr>
            <p:spPr>
              <a:xfrm>
                <a:off x="7845650" y="0"/>
                <a:ext cx="249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Spain                        @maria_lopez           María López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286" name="Google Shape;286;p20"/>
            <p:cNvGrpSpPr/>
            <p:nvPr/>
          </p:nvGrpSpPr>
          <p:grpSpPr>
            <a:xfrm>
              <a:off x="190500" y="952500"/>
              <a:ext cx="10337150" cy="190500"/>
              <a:chOff x="0" y="0"/>
              <a:chExt cx="10337150" cy="190500"/>
            </a:xfrm>
          </p:grpSpPr>
          <p:sp>
            <p:nvSpPr>
              <p:cNvPr id="287" name="Google Shape;287;p20"/>
              <p:cNvSpPr txBox="1"/>
              <p:nvPr/>
            </p:nvSpPr>
            <p:spPr>
              <a:xfrm>
                <a:off x="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Juan@gm</a:t>
                </a:r>
                <a:r>
                  <a:rPr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…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88" name="Google Shape;288;p20"/>
              <p:cNvSpPr txBox="1"/>
              <p:nvPr/>
            </p:nvSpPr>
            <p:spPr>
              <a:xfrm>
                <a:off x="76230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********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89" name="Google Shape;289;p20"/>
              <p:cNvSpPr txBox="1"/>
              <p:nvPr/>
            </p:nvSpPr>
            <p:spPr>
              <a:xfrm>
                <a:off x="1547100" y="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Juan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90" name="Google Shape;290;p20"/>
              <p:cNvSpPr txBox="1"/>
              <p:nvPr/>
            </p:nvSpPr>
            <p:spPr>
              <a:xfrm>
                <a:off x="206310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Martínez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91" name="Google Shape;291;p20"/>
              <p:cNvSpPr txBox="1"/>
              <p:nvPr/>
            </p:nvSpPr>
            <p:spPr>
              <a:xfrm>
                <a:off x="2825025" y="0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juanm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92" name="Google Shape;292;p20"/>
              <p:cNvSpPr txBox="1"/>
              <p:nvPr/>
            </p:nvSpPr>
            <p:spPr>
              <a:xfrm>
                <a:off x="3582900" y="0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0,0€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93" name="Google Shape;293;p20"/>
              <p:cNvSpPr txBox="1"/>
              <p:nvPr/>
            </p:nvSpPr>
            <p:spPr>
              <a:xfrm>
                <a:off x="4253850" y="0"/>
                <a:ext cx="57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50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94" name="Google Shape;294;p20"/>
              <p:cNvSpPr txBox="1"/>
              <p:nvPr/>
            </p:nvSpPr>
            <p:spPr>
              <a:xfrm>
                <a:off x="4792650" y="0"/>
                <a:ext cx="1392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Calle </a:t>
                </a:r>
                <a:r>
                  <a:rPr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de la…          Bajo A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95" name="Google Shape;295;p20"/>
              <p:cNvSpPr txBox="1"/>
              <p:nvPr/>
            </p:nvSpPr>
            <p:spPr>
              <a:xfrm>
                <a:off x="6513925" y="0"/>
                <a:ext cx="1633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Valencia             46002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96" name="Google Shape;296;p20"/>
              <p:cNvSpPr txBox="1"/>
              <p:nvPr/>
            </p:nvSpPr>
            <p:spPr>
              <a:xfrm>
                <a:off x="7845650" y="0"/>
                <a:ext cx="2491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Spain                       @juanm                             Juan Martínez</a:t>
                </a:r>
                <a:endParaRPr b="0" sz="9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sp>
          <p:nvSpPr>
            <p:cNvPr id="297" name="Google Shape;297;p20"/>
            <p:cNvSpPr txBox="1"/>
            <p:nvPr/>
          </p:nvSpPr>
          <p:spPr>
            <a:xfrm>
              <a:off x="4983150" y="47625"/>
              <a:ext cx="2015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ADDRESS 1           </a:t>
              </a:r>
              <a:r>
                <a:rPr b="1" lang="en-US" sz="9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ADDRESS 2 </a:t>
              </a:r>
              <a:r>
                <a:rPr b="1" lang="en-US" sz="9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       </a:t>
              </a:r>
              <a:endParaRPr b="1" sz="9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762000" y="904875"/>
            <a:ext cx="10668000" cy="96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4" name="Google Shape;304;p21"/>
          <p:cNvGrpSpPr/>
          <p:nvPr/>
        </p:nvGrpSpPr>
        <p:grpSpPr>
          <a:xfrm>
            <a:off x="762000" y="2286000"/>
            <a:ext cx="3576047" cy="809700"/>
            <a:chOff x="0" y="0"/>
            <a:chExt cx="4000500" cy="809700"/>
          </a:xfrm>
        </p:grpSpPr>
        <p:sp>
          <p:nvSpPr>
            <p:cNvPr id="305" name="Google Shape;305;p21"/>
            <p:cNvSpPr/>
            <p:nvPr/>
          </p:nvSpPr>
          <p:spPr>
            <a:xfrm>
              <a:off x="0" y="0"/>
              <a:ext cx="4000500" cy="809700"/>
            </a:xfrm>
            <a:prstGeom prst="roundRect">
              <a:avLst>
                <a:gd fmla="val 14117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1"/>
            <p:cNvSpPr txBox="1"/>
            <p:nvPr/>
          </p:nvSpPr>
          <p:spPr>
            <a:xfrm>
              <a:off x="190500" y="294256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325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b="0" sz="2325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7" name="Google Shape;307;p21"/>
            <p:cNvSpPr txBox="1"/>
            <p:nvPr/>
          </p:nvSpPr>
          <p:spPr>
            <a:xfrm>
              <a:off x="714370" y="142875"/>
              <a:ext cx="30957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95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Origen de datos</a:t>
              </a:r>
              <a:endParaRPr b="1" sz="1295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18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Excel generado con scripts Python (Pandas)</a:t>
              </a:r>
              <a:endParaRPr b="0" sz="1018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08" name="Google Shape;308;p21"/>
          <p:cNvGrpSpPr/>
          <p:nvPr/>
        </p:nvGrpSpPr>
        <p:grpSpPr>
          <a:xfrm>
            <a:off x="762000" y="3238500"/>
            <a:ext cx="3576047" cy="809700"/>
            <a:chOff x="0" y="0"/>
            <a:chExt cx="4000500" cy="809700"/>
          </a:xfrm>
        </p:grpSpPr>
        <p:sp>
          <p:nvSpPr>
            <p:cNvPr id="309" name="Google Shape;309;p21"/>
            <p:cNvSpPr/>
            <p:nvPr/>
          </p:nvSpPr>
          <p:spPr>
            <a:xfrm>
              <a:off x="0" y="0"/>
              <a:ext cx="4000500" cy="809700"/>
            </a:xfrm>
            <a:prstGeom prst="roundRect">
              <a:avLst>
                <a:gd fmla="val 14117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1"/>
            <p:cNvSpPr txBox="1"/>
            <p:nvPr/>
          </p:nvSpPr>
          <p:spPr>
            <a:xfrm>
              <a:off x="190500" y="294256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325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inventory_2</a:t>
              </a:r>
              <a:endParaRPr b="0" sz="2325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1" name="Google Shape;311;p21"/>
            <p:cNvSpPr txBox="1"/>
            <p:nvPr/>
          </p:nvSpPr>
          <p:spPr>
            <a:xfrm>
              <a:off x="714370" y="142875"/>
              <a:ext cx="30957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95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Catálogo</a:t>
              </a:r>
              <a:endParaRPr b="1" sz="1295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18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Juegos, desarrolladores, editoras y ofertas</a:t>
              </a:r>
              <a:endParaRPr b="0" sz="1018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12" name="Google Shape;312;p21"/>
          <p:cNvGrpSpPr/>
          <p:nvPr/>
        </p:nvGrpSpPr>
        <p:grpSpPr>
          <a:xfrm>
            <a:off x="762000" y="4191000"/>
            <a:ext cx="3576047" cy="809700"/>
            <a:chOff x="0" y="0"/>
            <a:chExt cx="4000500" cy="809700"/>
          </a:xfrm>
        </p:grpSpPr>
        <p:sp>
          <p:nvSpPr>
            <p:cNvPr id="313" name="Google Shape;313;p21"/>
            <p:cNvSpPr/>
            <p:nvPr/>
          </p:nvSpPr>
          <p:spPr>
            <a:xfrm>
              <a:off x="0" y="0"/>
              <a:ext cx="4000500" cy="809700"/>
            </a:xfrm>
            <a:prstGeom prst="roundRect">
              <a:avLst>
                <a:gd fmla="val 14117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1"/>
            <p:cNvSpPr txBox="1"/>
            <p:nvPr/>
          </p:nvSpPr>
          <p:spPr>
            <a:xfrm>
              <a:off x="190500" y="294256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325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map</a:t>
              </a:r>
              <a:endParaRPr b="0" sz="2325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5" name="Google Shape;315;p21"/>
            <p:cNvSpPr txBox="1"/>
            <p:nvPr/>
          </p:nvSpPr>
          <p:spPr>
            <a:xfrm>
              <a:off x="714370" y="142875"/>
              <a:ext cx="30957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Usuarios</a:t>
              </a:r>
              <a:endParaRPr b="1" sz="14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Saldos por ciudad en mapa interactivo</a:t>
              </a:r>
              <a:endParaRPr b="0" sz="1100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16" name="Google Shape;316;p21"/>
          <p:cNvGrpSpPr/>
          <p:nvPr/>
        </p:nvGrpSpPr>
        <p:grpSpPr>
          <a:xfrm>
            <a:off x="762000" y="5143500"/>
            <a:ext cx="3576047" cy="809700"/>
            <a:chOff x="0" y="0"/>
            <a:chExt cx="4000500" cy="809700"/>
          </a:xfrm>
        </p:grpSpPr>
        <p:sp>
          <p:nvSpPr>
            <p:cNvPr id="317" name="Google Shape;317;p21"/>
            <p:cNvSpPr/>
            <p:nvPr/>
          </p:nvSpPr>
          <p:spPr>
            <a:xfrm>
              <a:off x="0" y="0"/>
              <a:ext cx="4000500" cy="809700"/>
            </a:xfrm>
            <a:prstGeom prst="roundRect">
              <a:avLst>
                <a:gd fmla="val 14117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1"/>
            <p:cNvSpPr txBox="1"/>
            <p:nvPr/>
          </p:nvSpPr>
          <p:spPr>
            <a:xfrm>
              <a:off x="190500" y="24826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25" u="none" strike="noStrike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b="0" i="0" sz="2325" u="none" strike="noStrike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9" name="Google Shape;319;p21"/>
            <p:cNvSpPr txBox="1"/>
            <p:nvPr/>
          </p:nvSpPr>
          <p:spPr>
            <a:xfrm>
              <a:off x="714370" y="142875"/>
              <a:ext cx="30957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strike="noStrike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KPIs críticos</a:t>
              </a:r>
              <a:endParaRPr b="1" i="0" sz="1400" u="none" strike="noStrike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Stock total, ventas y top más vendidos</a:t>
              </a:r>
              <a:endParaRPr b="1" i="0" sz="1100" u="none" strike="noStrike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320" name="Google Shape;3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0180" y="2286000"/>
            <a:ext cx="8700" cy="36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1" title="image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2200" y="2228775"/>
            <a:ext cx="6916422" cy="388524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1"/>
          <p:cNvSpPr txBox="1"/>
          <p:nvPr/>
        </p:nvSpPr>
        <p:spPr>
          <a:xfrm>
            <a:off x="762000" y="571500"/>
            <a:ext cx="10668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07 // BUSINESS INTELLIGENCE </a:t>
            </a:r>
            <a:r>
              <a:rPr b="0" lang="en-US" sz="1200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de mercado — Power BI</a:t>
            </a:r>
            <a:endParaRPr b="0" sz="1200">
              <a:solidFill>
                <a:srgbClr val="8EDCFC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762000" y="1095375"/>
            <a:ext cx="4762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POWER BI</a:t>
            </a:r>
            <a:endParaRPr b="0" sz="420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Informe de análisis de mercado — GameSage</a:t>
            </a:r>
            <a:endParaRPr b="0" sz="1600">
              <a:solidFill>
                <a:srgbClr val="9CA3AF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"/>
          <p:cNvSpPr txBox="1"/>
          <p:nvPr/>
        </p:nvSpPr>
        <p:spPr>
          <a:xfrm>
            <a:off x="762000" y="476250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08 // INTERFAZ DE USUARIO</a:t>
            </a:r>
            <a:r>
              <a:rPr b="0" lang="en-US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1200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Prototipado Figma — Web y móvil</a:t>
            </a:r>
            <a:endParaRPr b="0" sz="1200">
              <a:solidFill>
                <a:srgbClr val="8EDCFC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329" name="Google Shape;3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852488"/>
            <a:ext cx="10668000" cy="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2"/>
          <p:cNvSpPr txBox="1"/>
          <p:nvPr/>
        </p:nvSpPr>
        <p:spPr>
          <a:xfrm>
            <a:off x="762000" y="1047750"/>
            <a:ext cx="5715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PROTOTIPO </a:t>
            </a:r>
            <a:r>
              <a:rPr b="0" lang="en-US" sz="4200">
                <a:solidFill>
                  <a:srgbClr val="8EDC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FIGMA</a:t>
            </a:r>
            <a:endParaRPr b="0" sz="420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centrado en el usuario — GameSage</a:t>
            </a:r>
            <a:endParaRPr b="0" sz="1400">
              <a:solidFill>
                <a:srgbClr val="9CA3A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31" name="Google Shape;331;p22"/>
          <p:cNvGrpSpPr/>
          <p:nvPr/>
        </p:nvGrpSpPr>
        <p:grpSpPr>
          <a:xfrm>
            <a:off x="762000" y="2191318"/>
            <a:ext cx="4433919" cy="3224943"/>
            <a:chOff x="0" y="0"/>
            <a:chExt cx="4190850" cy="3048150"/>
          </a:xfrm>
        </p:grpSpPr>
        <p:sp>
          <p:nvSpPr>
            <p:cNvPr id="332" name="Google Shape;332;p22"/>
            <p:cNvSpPr/>
            <p:nvPr/>
          </p:nvSpPr>
          <p:spPr>
            <a:xfrm>
              <a:off x="0" y="0"/>
              <a:ext cx="2000100" cy="1428900"/>
            </a:xfrm>
            <a:prstGeom prst="roundRect">
              <a:avLst>
                <a:gd fmla="val 8000" name="adj"/>
              </a:avLst>
            </a:prstGeom>
            <a:solidFill>
              <a:srgbClr val="111827"/>
            </a:solidFill>
            <a:ln cap="flat" cmpd="sng" w="1007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2"/>
            <p:cNvSpPr txBox="1"/>
            <p:nvPr/>
          </p:nvSpPr>
          <p:spPr>
            <a:xfrm>
              <a:off x="142875" y="142875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28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endParaRPr sz="2328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93"/>
                </a:spcBef>
                <a:spcAft>
                  <a:spcPts val="0"/>
                </a:spcAft>
                <a:buNone/>
              </a:pPr>
              <a:r>
                <a:rPr b="1" lang="en-US" sz="1375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Dos prototipos</a:t>
              </a:r>
              <a:endParaRPr b="1" sz="1375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397"/>
                </a:spcBef>
                <a:spcAft>
                  <a:spcPts val="0"/>
                </a:spcAft>
                <a:buNone/>
              </a:pPr>
              <a:r>
                <a:rPr b="0" lang="en-US" sz="1058">
                  <a:solidFill>
                    <a:srgbClr val="D1D5DB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Figma móvil y web antes del desarrollo.</a:t>
              </a:r>
              <a:endParaRPr b="0" sz="1058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2190750" y="0"/>
              <a:ext cx="2000100" cy="1428900"/>
            </a:xfrm>
            <a:prstGeom prst="roundRect">
              <a:avLst>
                <a:gd fmla="val 8000" name="adj"/>
              </a:avLst>
            </a:prstGeom>
            <a:solidFill>
              <a:srgbClr val="111827"/>
            </a:solidFill>
            <a:ln cap="flat" cmpd="sng" w="1007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2"/>
            <p:cNvSpPr txBox="1"/>
            <p:nvPr/>
          </p:nvSpPr>
          <p:spPr>
            <a:xfrm>
              <a:off x="2333625" y="142875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28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</a:t>
              </a:r>
              <a:endParaRPr sz="2328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93"/>
                </a:spcBef>
                <a:spcAft>
                  <a:spcPts val="0"/>
                </a:spcAft>
                <a:buNone/>
              </a:pPr>
              <a:r>
                <a:rPr b="1" lang="en-US" sz="1375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Misma experiencia</a:t>
              </a:r>
              <a:endParaRPr b="1" sz="1375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397"/>
                </a:spcBef>
                <a:spcAft>
                  <a:spcPts val="0"/>
                </a:spcAft>
                <a:buNone/>
              </a:pPr>
              <a:r>
                <a:rPr b="0" lang="en-US" sz="1058">
                  <a:solidFill>
                    <a:srgbClr val="D1D5DB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Catálogo y ofertas en ambas plataformas.</a:t>
              </a:r>
              <a:endParaRPr b="0" sz="1058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0" y="1619250"/>
              <a:ext cx="2000100" cy="1428900"/>
            </a:xfrm>
            <a:prstGeom prst="roundRect">
              <a:avLst>
                <a:gd fmla="val 8000" name="adj"/>
              </a:avLst>
            </a:prstGeom>
            <a:solidFill>
              <a:srgbClr val="111827"/>
            </a:solidFill>
            <a:ln cap="flat" cmpd="sng" w="1007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142875" y="1762125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28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palette</a:t>
              </a:r>
              <a:endParaRPr sz="2328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93"/>
                </a:spcBef>
                <a:spcAft>
                  <a:spcPts val="0"/>
                </a:spcAft>
                <a:buNone/>
              </a:pPr>
              <a:r>
                <a:rPr b="1" lang="en-US" sz="1375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Identidad visual</a:t>
              </a:r>
              <a:endParaRPr b="1" sz="1375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397"/>
                </a:spcBef>
                <a:spcAft>
                  <a:spcPts val="0"/>
                </a:spcAft>
                <a:buNone/>
              </a:pPr>
              <a:r>
                <a:rPr b="0" lang="en-US" sz="1058">
                  <a:solidFill>
                    <a:srgbClr val="D1D5DB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Componentes alineados con la app final.</a:t>
              </a:r>
              <a:endParaRPr b="0" sz="1058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2190750" y="1619250"/>
              <a:ext cx="2000100" cy="1428900"/>
            </a:xfrm>
            <a:prstGeom prst="roundRect">
              <a:avLst>
                <a:gd fmla="val 8000" name="adj"/>
              </a:avLst>
            </a:prstGeom>
            <a:solidFill>
              <a:srgbClr val="111827"/>
            </a:solidFill>
            <a:ln cap="flat" cmpd="sng" w="1007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2"/>
            <p:cNvSpPr txBox="1"/>
            <p:nvPr/>
          </p:nvSpPr>
          <p:spPr>
            <a:xfrm>
              <a:off x="2333625" y="1762125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28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2328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93"/>
                </a:spcBef>
                <a:spcAft>
                  <a:spcPts val="0"/>
                </a:spcAft>
                <a:buNone/>
              </a:pPr>
              <a:r>
                <a:rPr b="1" lang="en-US" sz="1375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Implementación</a:t>
              </a:r>
              <a:endParaRPr b="1" sz="1375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397"/>
                </a:spcBef>
                <a:spcAft>
                  <a:spcPts val="0"/>
                </a:spcAft>
                <a:buNone/>
              </a:pPr>
              <a:r>
                <a:rPr b="0" lang="en-US" sz="1058">
                  <a:solidFill>
                    <a:srgbClr val="D1D5DB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Diseño llevado a web y app Android.</a:t>
              </a:r>
              <a:endParaRPr b="0" sz="1058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340" name="Google Shape;340;p22"/>
          <p:cNvGrpSpPr/>
          <p:nvPr/>
        </p:nvGrpSpPr>
        <p:grpSpPr>
          <a:xfrm>
            <a:off x="5436884" y="2180898"/>
            <a:ext cx="5993105" cy="3224861"/>
            <a:chOff x="829854" y="419100"/>
            <a:chExt cx="4177544" cy="2247916"/>
          </a:xfrm>
        </p:grpSpPr>
        <p:sp>
          <p:nvSpPr>
            <p:cNvPr id="341" name="Google Shape;341;p22"/>
            <p:cNvSpPr/>
            <p:nvPr/>
          </p:nvSpPr>
          <p:spPr>
            <a:xfrm>
              <a:off x="829854" y="419116"/>
              <a:ext cx="2665800" cy="2247900"/>
            </a:xfrm>
            <a:prstGeom prst="roundRect">
              <a:avLst>
                <a:gd fmla="val 5084" name="adj"/>
              </a:avLst>
            </a:prstGeom>
            <a:solidFill>
              <a:srgbClr val="000000"/>
            </a:solidFill>
            <a:ln cap="flat" cmpd="sng" w="273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8"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3688599" y="419100"/>
              <a:ext cx="1318800" cy="2247900"/>
            </a:xfrm>
            <a:prstGeom prst="roundRect">
              <a:avLst>
                <a:gd fmla="val 11111" name="adj"/>
              </a:avLst>
            </a:prstGeom>
            <a:solidFill>
              <a:srgbClr val="000000"/>
            </a:solidFill>
            <a:ln cap="flat" cmpd="sng" w="273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8"/>
            </a:p>
          </p:txBody>
        </p:sp>
      </p:grpSp>
      <p:pic>
        <p:nvPicPr>
          <p:cNvPr id="343" name="Google Shape;343;p22" title="figma_web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9185" y="2547908"/>
            <a:ext cx="3170113" cy="2377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2" title="figma_android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80209" y="2657709"/>
            <a:ext cx="1289290" cy="2292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0" name="Google Shape;3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3"/>
          <p:cNvSpPr txBox="1"/>
          <p:nvPr/>
        </p:nvSpPr>
        <p:spPr>
          <a:xfrm>
            <a:off x="762000" y="476250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09 // DESPLIEGUE MULTIPLATAFORMA</a:t>
            </a:r>
            <a:r>
              <a:rPr b="0" lang="en-US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1200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web — Angular SSR en Vercel</a:t>
            </a:r>
            <a:endParaRPr b="0" sz="1200">
              <a:solidFill>
                <a:srgbClr val="8EDCFC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762000" y="809625"/>
            <a:ext cx="10668000" cy="96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762000" y="104775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ARQUITECTURA WEB — ANGULAR SSR</a:t>
            </a:r>
            <a:endParaRPr b="0" sz="360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GameSage en producción (Vercel)</a:t>
            </a:r>
            <a:endParaRPr b="0" sz="1400">
              <a:solidFill>
                <a:srgbClr val="9CA3AF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grpSp>
        <p:nvGrpSpPr>
          <p:cNvPr id="354" name="Google Shape;354;p23"/>
          <p:cNvGrpSpPr/>
          <p:nvPr/>
        </p:nvGrpSpPr>
        <p:grpSpPr>
          <a:xfrm>
            <a:off x="762000" y="2286000"/>
            <a:ext cx="3048000" cy="2095500"/>
            <a:chOff x="0" y="0"/>
            <a:chExt cx="3048000" cy="2095500"/>
          </a:xfrm>
        </p:grpSpPr>
        <p:sp>
          <p:nvSpPr>
            <p:cNvPr id="355" name="Google Shape;355;p23"/>
            <p:cNvSpPr/>
            <p:nvPr/>
          </p:nvSpPr>
          <p:spPr>
            <a:xfrm>
              <a:off x="0" y="0"/>
              <a:ext cx="3048000" cy="2095500"/>
            </a:xfrm>
            <a:prstGeom prst="roundRect">
              <a:avLst>
                <a:gd fmla="val 5454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3"/>
            <p:cNvSpPr txBox="1"/>
            <p:nvPr/>
          </p:nvSpPr>
          <p:spPr>
            <a:xfrm>
              <a:off x="190500" y="190500"/>
              <a:ext cx="2667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9CA3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Estado previo</a:t>
              </a:r>
              <a:endParaRPr b="1" sz="110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FFFFF"/>
                  </a:solidFill>
                  <a:latin typeface="Urbanist ExtraBold"/>
                  <a:ea typeface="Urbanist ExtraBold"/>
                  <a:cs typeface="Urbanist ExtraBold"/>
                  <a:sym typeface="Urbanist ExtraBold"/>
                </a:rPr>
                <a:t>Angular + Node.js</a:t>
              </a:r>
              <a:endParaRPr b="0" sz="18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Frontend y API separados en proyectos o procesos distintos. Arquitectura desacoplada tradicional.</a:t>
              </a:r>
              <a:endParaRPr b="0" sz="10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357" name="Google Shape;3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5" y="3324225"/>
            <a:ext cx="4764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9125" y="3286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9" name="Google Shape;359;p23"/>
          <p:cNvGrpSpPr/>
          <p:nvPr/>
        </p:nvGrpSpPr>
        <p:grpSpPr>
          <a:xfrm>
            <a:off x="4572000" y="2095500"/>
            <a:ext cx="3048000" cy="2476500"/>
            <a:chOff x="0" y="0"/>
            <a:chExt cx="3048000" cy="2476500"/>
          </a:xfrm>
        </p:grpSpPr>
        <p:sp>
          <p:nvSpPr>
            <p:cNvPr id="360" name="Google Shape;360;p23"/>
            <p:cNvSpPr/>
            <p:nvPr/>
          </p:nvSpPr>
          <p:spPr>
            <a:xfrm>
              <a:off x="0" y="0"/>
              <a:ext cx="3048000" cy="2476500"/>
            </a:xfrm>
            <a:prstGeom prst="roundRect">
              <a:avLst>
                <a:gd fmla="val 6153" name="adj"/>
              </a:avLst>
            </a:prstGeom>
            <a:solidFill>
              <a:srgbClr val="0F172A"/>
            </a:solidFill>
            <a:ln cap="flat" cmpd="sng" w="19050">
              <a:solidFill>
                <a:srgbClr val="8EDC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3"/>
            <p:cNvSpPr txBox="1"/>
            <p:nvPr/>
          </p:nvSpPr>
          <p:spPr>
            <a:xfrm>
              <a:off x="190500" y="190500"/>
              <a:ext cx="2667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400">
                <a:solidFill>
                  <a:srgbClr val="8EDC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Arquitectura actual</a:t>
              </a:r>
              <a:endParaRPr b="1" sz="11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FFFFF"/>
                  </a:solidFill>
                  <a:latin typeface="Urbanist ExtraBold"/>
                  <a:ea typeface="Urbanist ExtraBold"/>
                  <a:cs typeface="Urbanist ExtraBold"/>
                  <a:sym typeface="Urbanist ExtraBold"/>
                </a:rPr>
                <a:t>Angular SSR + Express</a:t>
              </a:r>
              <a:endParaRPr b="0" sz="18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Un solo servidor Node gestionando web y API REST.</a:t>
              </a:r>
              <a:endParaRPr b="0" sz="10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900" u="sng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gamingsage.vercel.app</a:t>
              </a:r>
              <a:endParaRPr sz="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2" name="Google Shape;36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2875" y="3324225"/>
            <a:ext cx="4764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9125" y="3286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23"/>
          <p:cNvGrpSpPr/>
          <p:nvPr/>
        </p:nvGrpSpPr>
        <p:grpSpPr>
          <a:xfrm>
            <a:off x="8382000" y="2286000"/>
            <a:ext cx="3048000" cy="2095500"/>
            <a:chOff x="0" y="0"/>
            <a:chExt cx="3048000" cy="2095500"/>
          </a:xfrm>
        </p:grpSpPr>
        <p:sp>
          <p:nvSpPr>
            <p:cNvPr id="365" name="Google Shape;365;p23"/>
            <p:cNvSpPr/>
            <p:nvPr/>
          </p:nvSpPr>
          <p:spPr>
            <a:xfrm>
              <a:off x="0" y="0"/>
              <a:ext cx="3048000" cy="2095500"/>
            </a:xfrm>
            <a:prstGeom prst="roundRect">
              <a:avLst>
                <a:gd fmla="val 5454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3"/>
            <p:cNvSpPr txBox="1"/>
            <p:nvPr/>
          </p:nvSpPr>
          <p:spPr>
            <a:xfrm>
              <a:off x="190500" y="190500"/>
              <a:ext cx="2667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9CA3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Seguridad y SEO</a:t>
              </a:r>
              <a:endParaRPr b="1" sz="110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FFFFF"/>
                  </a:solidFill>
                  <a:latin typeface="Urbanist ExtraBold"/>
                  <a:ea typeface="Urbanist ExtraBold"/>
                  <a:cs typeface="Urbanist ExtraBold"/>
                  <a:sym typeface="Urbanist ExtraBold"/>
                </a:rPr>
                <a:t>Optimización </a:t>
              </a:r>
              <a:r>
                <a:rPr lang="en-US" sz="1800">
                  <a:solidFill>
                    <a:srgbClr val="FFFFFF"/>
                  </a:solidFill>
                  <a:latin typeface="Urbanist ExtraBold"/>
                  <a:ea typeface="Urbanist ExtraBold"/>
                  <a:cs typeface="Urbanist ExtraBold"/>
                  <a:sym typeface="Urbanist ExtraBold"/>
                </a:rPr>
                <a:t>nativa</a:t>
              </a:r>
              <a:endParaRPr b="0" sz="18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• Revisión con OWASP ZAP</a:t>
              </a:r>
              <a:endParaRPr b="0" sz="10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• CSP y cabeceras HTTP</a:t>
              </a:r>
              <a:endParaRPr b="0" sz="10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• Contenido renderizado (SEO)</a:t>
              </a:r>
              <a:endParaRPr b="0" sz="10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67" name="Google Shape;367;p23"/>
          <p:cNvGrpSpPr/>
          <p:nvPr/>
        </p:nvGrpSpPr>
        <p:grpSpPr>
          <a:xfrm>
            <a:off x="762000" y="4953000"/>
            <a:ext cx="10668000" cy="1143000"/>
            <a:chOff x="0" y="0"/>
            <a:chExt cx="10668000" cy="1143000"/>
          </a:xfrm>
        </p:grpSpPr>
        <p:sp>
          <p:nvSpPr>
            <p:cNvPr id="368" name="Google Shape;368;p23"/>
            <p:cNvSpPr/>
            <p:nvPr/>
          </p:nvSpPr>
          <p:spPr>
            <a:xfrm>
              <a:off x="0" y="0"/>
              <a:ext cx="10668000" cy="1143000"/>
            </a:xfrm>
            <a:prstGeom prst="roundRect">
              <a:avLst>
                <a:gd fmla="val 10000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3"/>
            <p:cNvSpPr txBox="1"/>
            <p:nvPr/>
          </p:nvSpPr>
          <p:spPr>
            <a:xfrm>
              <a:off x="285750" y="238125"/>
              <a:ext cx="10096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Documentación técnica integral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 u="sng">
                  <a:solidFill>
                    <a:schemeClr val="accent1"/>
                  </a:solidFill>
                  <a:latin typeface="Plus Jakarta Sans"/>
                  <a:ea typeface="Plus Jakarta Sans"/>
                  <a:cs typeface="Plus Jakarta Sans"/>
                  <a:sym typeface="Plus Jakarta Sans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Compodoc</a:t>
              </a:r>
              <a:r>
                <a:rPr b="0" lang="en-US" sz="1100">
                  <a:solidFill>
                    <a:schemeClr val="accen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</a:t>
              </a:r>
              <a:r>
                <a:rPr b="0" lang="en-US" sz="1100">
                  <a:solidFill>
                    <a:srgbClr val="9CA3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(código Angular) · </a:t>
              </a:r>
              <a:r>
                <a:rPr b="1" lang="en-US" sz="1100" u="sng">
                  <a:solidFill>
                    <a:schemeClr val="accent1"/>
                  </a:solidFill>
                  <a:latin typeface="Plus Jakarta Sans"/>
                  <a:ea typeface="Plus Jakarta Sans"/>
                  <a:cs typeface="Plus Jakarta Sans"/>
                  <a:sym typeface="Plus Jakarta Sans"/>
                  <a:hlinkClick r:id="rId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Swagger</a:t>
              </a:r>
              <a:r>
                <a:rPr lang="en-US" sz="1100">
                  <a:solidFill>
                    <a:srgbClr val="9CA3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</a:t>
              </a:r>
              <a:r>
                <a:rPr b="0" lang="en-US" sz="1100">
                  <a:solidFill>
                    <a:srgbClr val="9CA3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(contrato API) · </a:t>
              </a:r>
              <a:r>
                <a:rPr b="0" lang="en-US" sz="1100" u="sng">
                  <a:solidFill>
                    <a:schemeClr val="accent1"/>
                  </a:solidFill>
                  <a:latin typeface="Plus Jakarta Sans"/>
                  <a:ea typeface="Plus Jakarta Sans"/>
                  <a:cs typeface="Plus Jakarta Sans"/>
                  <a:sym typeface="Plus Jakarta Sans"/>
                  <a:hlinkClick r:id="rId9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Detalle ampliado en Confluence</a:t>
              </a:r>
              <a:endParaRPr b="0" sz="1100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5" name="Google Shape;375;p24"/>
          <p:cNvGrpSpPr/>
          <p:nvPr/>
        </p:nvGrpSpPr>
        <p:grpSpPr>
          <a:xfrm>
            <a:off x="762000" y="476250"/>
            <a:ext cx="10668000" cy="390600"/>
            <a:chOff x="762000" y="476250"/>
            <a:chExt cx="10668000" cy="390600"/>
          </a:xfrm>
        </p:grpSpPr>
        <p:sp>
          <p:nvSpPr>
            <p:cNvPr id="376" name="Google Shape;376;p24"/>
            <p:cNvSpPr txBox="1"/>
            <p:nvPr/>
          </p:nvSpPr>
          <p:spPr>
            <a:xfrm>
              <a:off x="762000" y="476250"/>
              <a:ext cx="1066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10 // DESPLIEGUE MULTIPLATAFORMA</a:t>
              </a:r>
              <a:r>
                <a:rPr b="0"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 </a:t>
              </a:r>
              <a:r>
                <a:rPr lang="en-US" sz="1200">
                  <a:solidFill>
                    <a:srgbClr val="4B556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Demo web en producción</a:t>
              </a:r>
              <a:endParaRPr b="0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  <p:sp>
          <p:nvSpPr>
            <p:cNvPr id="377" name="Google Shape;377;p24"/>
            <p:cNvSpPr/>
            <p:nvPr/>
          </p:nvSpPr>
          <p:spPr>
            <a:xfrm>
              <a:off x="762000" y="857250"/>
              <a:ext cx="10668000" cy="96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24"/>
          <p:cNvSpPr txBox="1"/>
          <p:nvPr/>
        </p:nvSpPr>
        <p:spPr>
          <a:xfrm>
            <a:off x="762000" y="1095375"/>
            <a:ext cx="10668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3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WEB EN PRODUCCIÓN</a:t>
            </a:r>
            <a:endParaRPr b="0" sz="333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95" u="sng">
                <a:solidFill>
                  <a:schemeClr val="accen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gamingsage.vercel.app</a:t>
            </a:r>
            <a:endParaRPr b="0" sz="1295">
              <a:solidFill>
                <a:schemeClr val="accent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grpSp>
        <p:nvGrpSpPr>
          <p:cNvPr id="379" name="Google Shape;379;p24"/>
          <p:cNvGrpSpPr/>
          <p:nvPr/>
        </p:nvGrpSpPr>
        <p:grpSpPr>
          <a:xfrm>
            <a:off x="7048500" y="2190750"/>
            <a:ext cx="4381500" cy="3714900"/>
            <a:chOff x="7048500" y="2190750"/>
            <a:chExt cx="4381500" cy="3714900"/>
          </a:xfrm>
        </p:grpSpPr>
        <p:grpSp>
          <p:nvGrpSpPr>
            <p:cNvPr id="380" name="Google Shape;380;p24"/>
            <p:cNvGrpSpPr/>
            <p:nvPr/>
          </p:nvGrpSpPr>
          <p:grpSpPr>
            <a:xfrm>
              <a:off x="7048500" y="2190750"/>
              <a:ext cx="4381500" cy="1047900"/>
              <a:chOff x="7048500" y="2190750"/>
              <a:chExt cx="4381500" cy="1047900"/>
            </a:xfrm>
          </p:grpSpPr>
          <p:sp>
            <p:nvSpPr>
              <p:cNvPr id="381" name="Google Shape;381;p24"/>
              <p:cNvSpPr/>
              <p:nvPr/>
            </p:nvSpPr>
            <p:spPr>
              <a:xfrm>
                <a:off x="7048500" y="2190750"/>
                <a:ext cx="4381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111827"/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4"/>
              <p:cNvSpPr txBox="1"/>
              <p:nvPr/>
            </p:nvSpPr>
            <p:spPr>
              <a:xfrm>
                <a:off x="7286625" y="2333625"/>
                <a:ext cx="3905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8EDCF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Entorno real</a:t>
                </a:r>
                <a:endParaRPr b="1" sz="13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9CA3A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Despliegue en Vercel, no local; datos y servicios de producción para un rendimiento óptimo.</a:t>
                </a:r>
                <a:endParaRPr b="0" sz="1000">
                  <a:solidFill>
                    <a:srgbClr val="9CA3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83" name="Google Shape;383;p24"/>
            <p:cNvGrpSpPr/>
            <p:nvPr/>
          </p:nvGrpSpPr>
          <p:grpSpPr>
            <a:xfrm>
              <a:off x="7048500" y="3429000"/>
              <a:ext cx="4381500" cy="1238400"/>
              <a:chOff x="7048500" y="3429000"/>
              <a:chExt cx="4381500" cy="1238400"/>
            </a:xfrm>
          </p:grpSpPr>
          <p:sp>
            <p:nvSpPr>
              <p:cNvPr id="384" name="Google Shape;384;p24"/>
              <p:cNvSpPr/>
              <p:nvPr/>
            </p:nvSpPr>
            <p:spPr>
              <a:xfrm>
                <a:off x="7048500" y="3429000"/>
                <a:ext cx="43815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111827"/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4"/>
              <p:cNvSpPr txBox="1"/>
              <p:nvPr/>
            </p:nvSpPr>
            <p:spPr>
              <a:xfrm>
                <a:off x="7286625" y="3571875"/>
                <a:ext cx="3905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8EDCF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Integraciones activas</a:t>
                </a:r>
                <a:endParaRPr b="1" sz="13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9CA3A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 Pagos seguros con Stripe</a:t>
                </a:r>
                <a:br>
                  <a:rPr b="0" lang="en-US" sz="1000">
                    <a:solidFill>
                      <a:srgbClr val="9CA3A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</a:br>
                <a:r>
                  <a:rPr b="0" lang="en-US" sz="1000">
                    <a:solidFill>
                      <a:srgbClr val="9CA3A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 Media en Cloudinary</a:t>
                </a:r>
                <a:br>
                  <a:rPr b="0" lang="en-US" sz="1000">
                    <a:solidFill>
                      <a:srgbClr val="9CA3A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</a:br>
                <a:r>
                  <a:rPr b="0" lang="en-US" sz="1000">
                    <a:solidFill>
                      <a:srgbClr val="9CA3A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• Chat IA (Gemini) &amp; Login </a:t>
                </a:r>
                <a:r>
                  <a:rPr lang="en-US" sz="1000">
                    <a:solidFill>
                      <a:srgbClr val="9CA3A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social</a:t>
                </a:r>
                <a:endParaRPr b="0" sz="1000">
                  <a:solidFill>
                    <a:srgbClr val="9CA3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86" name="Google Shape;386;p24"/>
            <p:cNvGrpSpPr/>
            <p:nvPr/>
          </p:nvGrpSpPr>
          <p:grpSpPr>
            <a:xfrm>
              <a:off x="7048500" y="4857750"/>
              <a:ext cx="4381500" cy="1047900"/>
              <a:chOff x="7048500" y="4857750"/>
              <a:chExt cx="4381500" cy="1047900"/>
            </a:xfrm>
          </p:grpSpPr>
          <p:sp>
            <p:nvSpPr>
              <p:cNvPr id="387" name="Google Shape;387;p24"/>
              <p:cNvSpPr/>
              <p:nvPr/>
            </p:nvSpPr>
            <p:spPr>
              <a:xfrm>
                <a:off x="7048500" y="4857750"/>
                <a:ext cx="4381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111827">
                  <a:alpha val="80000"/>
                </a:srgbClr>
              </a:solidFill>
              <a:ln cap="flat" cmpd="sng" w="9525">
                <a:solidFill>
                  <a:srgbClr val="8EDCF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4"/>
              <p:cNvSpPr txBox="1"/>
              <p:nvPr/>
            </p:nvSpPr>
            <p:spPr>
              <a:xfrm>
                <a:off x="7286625" y="5000625"/>
                <a:ext cx="3905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Mismo backend</a:t>
                </a:r>
                <a:endParaRPr b="1" sz="13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D1D5D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La app Android y la documentación Swagger consumen exactamente esta misma infraestructura API.</a:t>
                </a:r>
                <a:endParaRPr b="0" sz="1000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389" name="Google Shape;389;p24" title="web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2000" y="2190750"/>
            <a:ext cx="6000749" cy="3714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5"/>
          <p:cNvSpPr txBox="1"/>
          <p:nvPr/>
        </p:nvSpPr>
        <p:spPr>
          <a:xfrm>
            <a:off x="771523" y="1047750"/>
            <a:ext cx="6797400" cy="51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3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ANDROID</a:t>
            </a:r>
            <a:endParaRPr b="0" sz="333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grpSp>
        <p:nvGrpSpPr>
          <p:cNvPr id="396" name="Google Shape;396;p25"/>
          <p:cNvGrpSpPr/>
          <p:nvPr/>
        </p:nvGrpSpPr>
        <p:grpSpPr>
          <a:xfrm>
            <a:off x="771525" y="1714500"/>
            <a:ext cx="10648950" cy="3810000"/>
            <a:chOff x="771525" y="1714500"/>
            <a:chExt cx="10648950" cy="3810000"/>
          </a:xfrm>
        </p:grpSpPr>
        <p:grpSp>
          <p:nvGrpSpPr>
            <p:cNvPr id="397" name="Google Shape;397;p25"/>
            <p:cNvGrpSpPr/>
            <p:nvPr/>
          </p:nvGrpSpPr>
          <p:grpSpPr>
            <a:xfrm>
              <a:off x="771525" y="1714500"/>
              <a:ext cx="3429000" cy="1143000"/>
              <a:chOff x="771525" y="1714500"/>
              <a:chExt cx="3429000" cy="1143000"/>
            </a:xfrm>
          </p:grpSpPr>
          <p:sp>
            <p:nvSpPr>
              <p:cNvPr id="398" name="Google Shape;398;p25"/>
              <p:cNvSpPr/>
              <p:nvPr/>
            </p:nvSpPr>
            <p:spPr>
              <a:xfrm>
                <a:off x="771525" y="1714500"/>
                <a:ext cx="3429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5"/>
              <p:cNvSpPr txBox="1"/>
              <p:nvPr/>
            </p:nvSpPr>
            <p:spPr>
              <a:xfrm>
                <a:off x="962025" y="1714500"/>
                <a:ext cx="3048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8EDCFC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Login / Register</a:t>
                </a:r>
                <a:endParaRPr b="0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CCCC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Credenciales al backend y gestión de sesión con TokenManager (datastore).</a:t>
                </a:r>
                <a:endParaRPr b="0" sz="1000">
                  <a:solidFill>
                    <a:srgbClr val="CCCCC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00" name="Google Shape;400;p25"/>
            <p:cNvGrpSpPr/>
            <p:nvPr/>
          </p:nvGrpSpPr>
          <p:grpSpPr>
            <a:xfrm>
              <a:off x="4381500" y="1714500"/>
              <a:ext cx="3429000" cy="1143000"/>
              <a:chOff x="4381500" y="1714500"/>
              <a:chExt cx="3429000" cy="1143000"/>
            </a:xfrm>
          </p:grpSpPr>
          <p:sp>
            <p:nvSpPr>
              <p:cNvPr id="401" name="Google Shape;401;p25"/>
              <p:cNvSpPr/>
              <p:nvPr/>
            </p:nvSpPr>
            <p:spPr>
              <a:xfrm>
                <a:off x="4381500" y="1714500"/>
                <a:ext cx="3429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5"/>
              <p:cNvSpPr txBox="1"/>
              <p:nvPr/>
            </p:nvSpPr>
            <p:spPr>
              <a:xfrm>
                <a:off x="4572000" y="1714500"/>
                <a:ext cx="3048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8EDCFC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Home</a:t>
                </a:r>
                <a:endParaRPr b="0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CCCC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Catálogo dinámico con LazyColumn.</a:t>
                </a:r>
                <a:endParaRPr b="0" sz="1000">
                  <a:solidFill>
                    <a:srgbClr val="CCCCC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03" name="Google Shape;403;p25"/>
            <p:cNvGrpSpPr/>
            <p:nvPr/>
          </p:nvGrpSpPr>
          <p:grpSpPr>
            <a:xfrm>
              <a:off x="7991475" y="1714500"/>
              <a:ext cx="3429000" cy="1143000"/>
              <a:chOff x="7991475" y="1714500"/>
              <a:chExt cx="3429000" cy="1143000"/>
            </a:xfrm>
          </p:grpSpPr>
          <p:sp>
            <p:nvSpPr>
              <p:cNvPr id="404" name="Google Shape;404;p25"/>
              <p:cNvSpPr/>
              <p:nvPr/>
            </p:nvSpPr>
            <p:spPr>
              <a:xfrm>
                <a:off x="7991475" y="1714500"/>
                <a:ext cx="3429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5"/>
              <p:cNvSpPr txBox="1"/>
              <p:nvPr/>
            </p:nvSpPr>
            <p:spPr>
              <a:xfrm>
                <a:off x="8181975" y="1714500"/>
                <a:ext cx="3048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8EDCFC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Product Details</a:t>
                </a:r>
                <a:endParaRPr b="0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CCCC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Carrusel multimedia, selector de plataforma y pasarela de pago.</a:t>
                </a:r>
                <a:endParaRPr b="0" sz="1000">
                  <a:solidFill>
                    <a:srgbClr val="CCCCC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06" name="Google Shape;406;p25"/>
            <p:cNvGrpSpPr/>
            <p:nvPr/>
          </p:nvGrpSpPr>
          <p:grpSpPr>
            <a:xfrm>
              <a:off x="771525" y="3048000"/>
              <a:ext cx="3429000" cy="1143000"/>
              <a:chOff x="771525" y="3048000"/>
              <a:chExt cx="3429000" cy="1143000"/>
            </a:xfrm>
          </p:grpSpPr>
          <p:sp>
            <p:nvSpPr>
              <p:cNvPr id="407" name="Google Shape;407;p25"/>
              <p:cNvSpPr/>
              <p:nvPr/>
            </p:nvSpPr>
            <p:spPr>
              <a:xfrm>
                <a:off x="771525" y="3048000"/>
                <a:ext cx="3429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5"/>
              <p:cNvSpPr txBox="1"/>
              <p:nvPr/>
            </p:nvSpPr>
            <p:spPr>
              <a:xfrm>
                <a:off x="962025" y="3048000"/>
                <a:ext cx="3048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8EDCFC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Cart &amp; Favorites</a:t>
                </a:r>
                <a:endParaRPr b="0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CCCC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Offline-first con Room y pagos integrados mediante Stripe.</a:t>
                </a:r>
                <a:endParaRPr b="0" sz="1000">
                  <a:solidFill>
                    <a:srgbClr val="CCCCC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09" name="Google Shape;409;p25"/>
            <p:cNvGrpSpPr/>
            <p:nvPr/>
          </p:nvGrpSpPr>
          <p:grpSpPr>
            <a:xfrm>
              <a:off x="4381500" y="3048000"/>
              <a:ext cx="3429000" cy="1143000"/>
              <a:chOff x="4381500" y="3048000"/>
              <a:chExt cx="3429000" cy="1143000"/>
            </a:xfrm>
          </p:grpSpPr>
          <p:sp>
            <p:nvSpPr>
              <p:cNvPr id="410" name="Google Shape;410;p25"/>
              <p:cNvSpPr/>
              <p:nvPr/>
            </p:nvSpPr>
            <p:spPr>
              <a:xfrm>
                <a:off x="4381500" y="3048000"/>
                <a:ext cx="3429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5"/>
              <p:cNvSpPr txBox="1"/>
              <p:nvPr/>
            </p:nvSpPr>
            <p:spPr>
              <a:xfrm>
                <a:off x="4572000" y="3048000"/>
                <a:ext cx="3048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8EDCFC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Help &amp; Contact</a:t>
                </a:r>
                <a:endParaRPr b="0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CCCC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Pantallas de ayuda estáticas con integración de Google Maps API para localización.</a:t>
                </a:r>
                <a:endParaRPr b="0" sz="1000">
                  <a:solidFill>
                    <a:srgbClr val="CCCCC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12" name="Google Shape;412;p25"/>
            <p:cNvGrpSpPr/>
            <p:nvPr/>
          </p:nvGrpSpPr>
          <p:grpSpPr>
            <a:xfrm>
              <a:off x="7991475" y="3048000"/>
              <a:ext cx="3429000" cy="1143000"/>
              <a:chOff x="7991475" y="3048000"/>
              <a:chExt cx="3429000" cy="1143000"/>
            </a:xfrm>
          </p:grpSpPr>
          <p:sp>
            <p:nvSpPr>
              <p:cNvPr id="413" name="Google Shape;413;p25"/>
              <p:cNvSpPr/>
              <p:nvPr/>
            </p:nvSpPr>
            <p:spPr>
              <a:xfrm>
                <a:off x="7991475" y="3048000"/>
                <a:ext cx="3429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5"/>
              <p:cNvSpPr txBox="1"/>
              <p:nvPr/>
            </p:nvSpPr>
            <p:spPr>
              <a:xfrm>
                <a:off x="8181975" y="3048000"/>
                <a:ext cx="3048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8EDCFC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Chat IA</a:t>
                </a:r>
                <a:endParaRPr b="0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CCCC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Manda mensaje al backend y muestra la respuesta en la misma </a:t>
                </a:r>
                <a:r>
                  <a:rPr lang="en-US" sz="1000">
                    <a:solidFill>
                      <a:srgbClr val="CCCCC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llamada.</a:t>
                </a:r>
                <a:endParaRPr b="0" sz="1000">
                  <a:solidFill>
                    <a:srgbClr val="CCCCC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15" name="Google Shape;415;p25"/>
            <p:cNvGrpSpPr/>
            <p:nvPr/>
          </p:nvGrpSpPr>
          <p:grpSpPr>
            <a:xfrm>
              <a:off x="771525" y="4381500"/>
              <a:ext cx="3429000" cy="1143000"/>
              <a:chOff x="771525" y="4381500"/>
              <a:chExt cx="3429000" cy="1143000"/>
            </a:xfrm>
          </p:grpSpPr>
          <p:sp>
            <p:nvSpPr>
              <p:cNvPr id="416" name="Google Shape;416;p25"/>
              <p:cNvSpPr/>
              <p:nvPr/>
            </p:nvSpPr>
            <p:spPr>
              <a:xfrm>
                <a:off x="771525" y="4381500"/>
                <a:ext cx="3429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5"/>
              <p:cNvSpPr txBox="1"/>
              <p:nvPr/>
            </p:nvSpPr>
            <p:spPr>
              <a:xfrm>
                <a:off x="962025" y="4381500"/>
                <a:ext cx="3048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8EDCFC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Dashboard</a:t>
                </a:r>
                <a:endParaRPr b="0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CCCC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Perfil de usuario, integración de </a:t>
                </a:r>
                <a:r>
                  <a:rPr lang="en-US" sz="1000">
                    <a:solidFill>
                      <a:srgbClr val="CCCCC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CameraX y</a:t>
                </a:r>
                <a:r>
                  <a:rPr b="0" lang="en-US" sz="1000">
                    <a:solidFill>
                      <a:srgbClr val="CCCCC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MediaStore para gestión de galería.</a:t>
                </a:r>
                <a:endParaRPr b="0" sz="1000">
                  <a:solidFill>
                    <a:srgbClr val="CCCCC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18" name="Google Shape;418;p25"/>
            <p:cNvGrpSpPr/>
            <p:nvPr/>
          </p:nvGrpSpPr>
          <p:grpSpPr>
            <a:xfrm>
              <a:off x="4381500" y="4381500"/>
              <a:ext cx="3429000" cy="1143000"/>
              <a:chOff x="4381500" y="4381500"/>
              <a:chExt cx="3429000" cy="1143000"/>
            </a:xfrm>
          </p:grpSpPr>
          <p:sp>
            <p:nvSpPr>
              <p:cNvPr id="419" name="Google Shape;419;p25"/>
              <p:cNvSpPr/>
              <p:nvPr/>
            </p:nvSpPr>
            <p:spPr>
              <a:xfrm>
                <a:off x="4381500" y="4381500"/>
                <a:ext cx="3429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5"/>
              <p:cNvSpPr txBox="1"/>
              <p:nvPr/>
            </p:nvSpPr>
            <p:spPr>
              <a:xfrm>
                <a:off x="4572000" y="4381500"/>
                <a:ext cx="3048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8EDCFC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Settings</a:t>
                </a:r>
                <a:endParaRPr b="0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CCCC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Preferencias de notificaciones por email. Guarda en backend. Permite eliminar cuenta.</a:t>
                </a:r>
                <a:endParaRPr b="0" sz="1000">
                  <a:solidFill>
                    <a:srgbClr val="CCCCC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421" name="Google Shape;421;p25"/>
            <p:cNvGrpSpPr/>
            <p:nvPr/>
          </p:nvGrpSpPr>
          <p:grpSpPr>
            <a:xfrm>
              <a:off x="7991475" y="4381500"/>
              <a:ext cx="3429000" cy="1143000"/>
              <a:chOff x="7991475" y="4381500"/>
              <a:chExt cx="3429000" cy="1143000"/>
            </a:xfrm>
          </p:grpSpPr>
          <p:sp>
            <p:nvSpPr>
              <p:cNvPr id="422" name="Google Shape;422;p25"/>
              <p:cNvSpPr/>
              <p:nvPr/>
            </p:nvSpPr>
            <p:spPr>
              <a:xfrm>
                <a:off x="7991475" y="4381500"/>
                <a:ext cx="3429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111827">
                  <a:alpha val="60000"/>
                </a:srgbClr>
              </a:solidFill>
              <a:ln cap="flat" cmpd="sng" w="9525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5"/>
              <p:cNvSpPr txBox="1"/>
              <p:nvPr/>
            </p:nvSpPr>
            <p:spPr>
              <a:xfrm>
                <a:off x="8181975" y="4381500"/>
                <a:ext cx="3048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8EDCFC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Notifications &amp; WorkManager</a:t>
                </a:r>
                <a:endParaRPr b="0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CCCCCC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Tareas en segundo plano para ofertas y lanzamiento de notificaciones.</a:t>
                </a:r>
                <a:endParaRPr b="0" sz="1000">
                  <a:solidFill>
                    <a:srgbClr val="CCCCC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sp>
        <p:nvSpPr>
          <p:cNvPr id="424" name="Google Shape;424;p25"/>
          <p:cNvSpPr txBox="1"/>
          <p:nvPr/>
        </p:nvSpPr>
        <p:spPr>
          <a:xfrm>
            <a:off x="771525" y="476250"/>
            <a:ext cx="106491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11 // DESPLIEGUE MULTIPLATAFORMA</a:t>
            </a:r>
            <a:r>
              <a:rPr b="0" lang="en-US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1200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 Android — Módulos y pantallas</a:t>
            </a:r>
            <a:endParaRPr b="0" sz="1200">
              <a:solidFill>
                <a:srgbClr val="8EDCFC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25" name="Google Shape;425;p25"/>
          <p:cNvSpPr/>
          <p:nvPr/>
        </p:nvSpPr>
        <p:spPr>
          <a:xfrm>
            <a:off x="771525" y="809625"/>
            <a:ext cx="10649100" cy="96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762" y="-4762"/>
            <a:ext cx="12196800" cy="68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6"/>
          <p:cNvSpPr txBox="1"/>
          <p:nvPr/>
        </p:nvSpPr>
        <p:spPr>
          <a:xfrm>
            <a:off x="762000" y="476250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12 // DESPLIEGUE MULTIPLATAFORMA</a:t>
            </a:r>
            <a:r>
              <a:rPr b="0" lang="en-US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1200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 Android — Cliente nativo (demo)</a:t>
            </a:r>
            <a:endParaRPr b="0" sz="1200">
              <a:solidFill>
                <a:srgbClr val="8EDCFC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762000" y="857250"/>
            <a:ext cx="10668000" cy="96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6"/>
          <p:cNvSpPr txBox="1"/>
          <p:nvPr/>
        </p:nvSpPr>
        <p:spPr>
          <a:xfrm>
            <a:off x="762000" y="1095375"/>
            <a:ext cx="10668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APP ANDROID</a:t>
            </a:r>
            <a:endParaRPr b="0" sz="330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8EDCFC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Cliente nativo — misma API que la web</a:t>
            </a:r>
            <a:endParaRPr b="0" sz="1300">
              <a:solidFill>
                <a:srgbClr val="8EDCFC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grpSp>
        <p:nvGrpSpPr>
          <p:cNvPr id="434" name="Google Shape;434;p26"/>
          <p:cNvGrpSpPr/>
          <p:nvPr/>
        </p:nvGrpSpPr>
        <p:grpSpPr>
          <a:xfrm>
            <a:off x="3518879" y="2190750"/>
            <a:ext cx="7910055" cy="1223004"/>
            <a:chOff x="0" y="0"/>
            <a:chExt cx="7239000" cy="1047900"/>
          </a:xfrm>
        </p:grpSpPr>
        <p:sp>
          <p:nvSpPr>
            <p:cNvPr id="435" name="Google Shape;435;p26"/>
            <p:cNvSpPr/>
            <p:nvPr/>
          </p:nvSpPr>
          <p:spPr>
            <a:xfrm>
              <a:off x="0" y="0"/>
              <a:ext cx="7239000" cy="1047900"/>
            </a:xfrm>
            <a:prstGeom prst="roundRect">
              <a:avLst>
                <a:gd fmla="val 10909" name="adj"/>
              </a:avLst>
            </a:prstGeom>
            <a:solidFill>
              <a:srgbClr val="111827"/>
            </a:solidFill>
            <a:ln cap="flat" cmpd="sng" w="111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6"/>
            <p:cNvSpPr txBox="1"/>
            <p:nvPr/>
          </p:nvSpPr>
          <p:spPr>
            <a:xfrm>
              <a:off x="285750" y="0"/>
              <a:ext cx="6667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17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Stack</a:t>
              </a:r>
              <a:endParaRPr b="1" sz="1517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467"/>
                </a:spcBef>
                <a:spcAft>
                  <a:spcPts val="0"/>
                </a:spcAft>
                <a:buNone/>
              </a:pPr>
              <a:r>
                <a:rPr b="0" lang="en-US" sz="1167">
                  <a:solidFill>
                    <a:srgbClr val="9CA3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Kotlin + Jetpack Compose; arquitectura por capas (UI, ViewModel, repositorios).</a:t>
              </a:r>
              <a:endParaRPr b="0" sz="1167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437" name="Google Shape;437;p26"/>
          <p:cNvGrpSpPr/>
          <p:nvPr/>
        </p:nvGrpSpPr>
        <p:grpSpPr>
          <a:xfrm>
            <a:off x="3518879" y="3635925"/>
            <a:ext cx="7910055" cy="1223004"/>
            <a:chOff x="0" y="0"/>
            <a:chExt cx="7239000" cy="1047900"/>
          </a:xfrm>
        </p:grpSpPr>
        <p:sp>
          <p:nvSpPr>
            <p:cNvPr id="438" name="Google Shape;438;p26"/>
            <p:cNvSpPr/>
            <p:nvPr/>
          </p:nvSpPr>
          <p:spPr>
            <a:xfrm>
              <a:off x="0" y="0"/>
              <a:ext cx="7239000" cy="1047900"/>
            </a:xfrm>
            <a:prstGeom prst="roundRect">
              <a:avLst>
                <a:gd fmla="val 10909" name="adj"/>
              </a:avLst>
            </a:prstGeom>
            <a:solidFill>
              <a:srgbClr val="111827"/>
            </a:solidFill>
            <a:ln cap="flat" cmpd="sng" w="111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6"/>
            <p:cNvSpPr txBox="1"/>
            <p:nvPr/>
          </p:nvSpPr>
          <p:spPr>
            <a:xfrm>
              <a:off x="285750" y="0"/>
              <a:ext cx="6667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17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Conexión</a:t>
              </a:r>
              <a:endParaRPr b="1" sz="1517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467"/>
                </a:spcBef>
                <a:spcAft>
                  <a:spcPts val="0"/>
                </a:spcAft>
                <a:buNone/>
              </a:pPr>
              <a:r>
                <a:rPr b="0" lang="en-US" sz="1167">
                  <a:solidFill>
                    <a:srgbClr val="9CA3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Retrofit contra gamingsage.vercel.app/api; token y sesión como en la web.</a:t>
              </a:r>
              <a:endParaRPr b="0" sz="1167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440" name="Google Shape;440;p26"/>
          <p:cNvGrpSpPr/>
          <p:nvPr/>
        </p:nvGrpSpPr>
        <p:grpSpPr>
          <a:xfrm>
            <a:off x="3513675" y="5075541"/>
            <a:ext cx="7920545" cy="1233858"/>
            <a:chOff x="-4762" y="-4762"/>
            <a:chExt cx="7248600" cy="1057200"/>
          </a:xfrm>
        </p:grpSpPr>
        <p:pic>
          <p:nvPicPr>
            <p:cNvPr id="441" name="Google Shape;441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7248600" cy="10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2" name="Google Shape;442;p26"/>
            <p:cNvSpPr txBox="1"/>
            <p:nvPr/>
          </p:nvSpPr>
          <p:spPr>
            <a:xfrm>
              <a:off x="285750" y="0"/>
              <a:ext cx="6667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17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Distribución</a:t>
              </a:r>
              <a:endParaRPr b="1" sz="1517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467"/>
                </a:spcBef>
                <a:spcAft>
                  <a:spcPts val="0"/>
                </a:spcAft>
                <a:buNone/>
              </a:pPr>
              <a:r>
                <a:rPr b="0" lang="en-US" sz="1167">
                  <a:solidFill>
                    <a:srgbClr val="D1D5D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APK en el repositorio para instalar y probar sin Android Studio.</a:t>
              </a:r>
              <a:endParaRPr b="0" sz="1167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443" name="Google Shape;443;p26" title="android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2000" y="2190750"/>
            <a:ext cx="2316724" cy="4118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27"/>
          <p:cNvGrpSpPr/>
          <p:nvPr/>
        </p:nvGrpSpPr>
        <p:grpSpPr>
          <a:xfrm>
            <a:off x="-952500" y="-476250"/>
            <a:ext cx="13811250" cy="8096250"/>
            <a:chOff x="-952500" y="-476250"/>
            <a:chExt cx="13811250" cy="8096250"/>
          </a:xfrm>
        </p:grpSpPr>
        <p:sp>
          <p:nvSpPr>
            <p:cNvPr id="450" name="Google Shape;450;p27"/>
            <p:cNvSpPr/>
            <p:nvPr/>
          </p:nvSpPr>
          <p:spPr>
            <a:xfrm>
              <a:off x="10001250" y="-476250"/>
              <a:ext cx="2857500" cy="2857500"/>
            </a:xfrm>
            <a:prstGeom prst="ellipse">
              <a:avLst/>
            </a:prstGeom>
            <a:solidFill>
              <a:srgbClr val="8EDCFC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-952500" y="3810000"/>
              <a:ext cx="3810000" cy="3810000"/>
            </a:xfrm>
            <a:prstGeom prst="ellipse">
              <a:avLst/>
            </a:prstGeom>
            <a:solidFill>
              <a:srgbClr val="8EDCFC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" name="Google Shape;452;p27"/>
          <p:cNvGrpSpPr/>
          <p:nvPr/>
        </p:nvGrpSpPr>
        <p:grpSpPr>
          <a:xfrm>
            <a:off x="762000" y="476250"/>
            <a:ext cx="10668000" cy="390600"/>
            <a:chOff x="762000" y="476250"/>
            <a:chExt cx="10668000" cy="390600"/>
          </a:xfrm>
        </p:grpSpPr>
        <p:sp>
          <p:nvSpPr>
            <p:cNvPr id="453" name="Google Shape;453;p27"/>
            <p:cNvSpPr txBox="1"/>
            <p:nvPr/>
          </p:nvSpPr>
          <p:spPr>
            <a:xfrm>
              <a:off x="762000" y="476250"/>
              <a:ext cx="10668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8EDC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FIN DE LA DEFENSA </a:t>
              </a:r>
              <a:r>
                <a:rPr b="0" lang="en-US" sz="1200">
                  <a:solidFill>
                    <a:srgbClr val="4B556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Conclusiones </a:t>
              </a:r>
              <a:r>
                <a:rPr lang="en-US" sz="1200">
                  <a:solidFill>
                    <a:srgbClr val="4B556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finales</a:t>
              </a:r>
              <a:endParaRPr b="0" sz="1200">
                <a:solidFill>
                  <a:srgbClr val="8EDC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  <p:sp>
          <p:nvSpPr>
            <p:cNvPr id="454" name="Google Shape;454;p27"/>
            <p:cNvSpPr/>
            <p:nvPr/>
          </p:nvSpPr>
          <p:spPr>
            <a:xfrm>
              <a:off x="762000" y="857250"/>
              <a:ext cx="10668000" cy="960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" name="Google Shape;455;p27"/>
          <p:cNvSpPr txBox="1"/>
          <p:nvPr/>
        </p:nvSpPr>
        <p:spPr>
          <a:xfrm>
            <a:off x="762000" y="2095500"/>
            <a:ext cx="10668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920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GRACIAS POR SU ATENCIÓN</a:t>
            </a:r>
            <a:endParaRPr b="0" sz="5920">
              <a:solidFill>
                <a:srgbClr val="FFFFFF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grpSp>
        <p:nvGrpSpPr>
          <p:cNvPr id="456" name="Google Shape;456;p27"/>
          <p:cNvGrpSpPr/>
          <p:nvPr/>
        </p:nvGrpSpPr>
        <p:grpSpPr>
          <a:xfrm>
            <a:off x="3238500" y="4286250"/>
            <a:ext cx="5715000" cy="952500"/>
            <a:chOff x="3238500" y="4286250"/>
            <a:chExt cx="5715000" cy="952500"/>
          </a:xfrm>
        </p:grpSpPr>
        <p:sp>
          <p:nvSpPr>
            <p:cNvPr id="457" name="Google Shape;457;p27"/>
            <p:cNvSpPr/>
            <p:nvPr/>
          </p:nvSpPr>
          <p:spPr>
            <a:xfrm>
              <a:off x="3238500" y="4286250"/>
              <a:ext cx="5715000" cy="952500"/>
            </a:xfrm>
            <a:prstGeom prst="roundRect">
              <a:avLst>
                <a:gd fmla="val 16000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7"/>
            <p:cNvSpPr txBox="1"/>
            <p:nvPr/>
          </p:nvSpPr>
          <p:spPr>
            <a:xfrm>
              <a:off x="3238500" y="4286250"/>
              <a:ext cx="571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EDC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 </a:t>
              </a:r>
              <a:r>
                <a:rPr b="1" lang="en-US" sz="1400">
                  <a:solidFill>
                    <a:srgbClr val="8EDC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Repositorio del Proyecto</a:t>
              </a:r>
              <a:endParaRPr b="1" sz="1400">
                <a:solidFill>
                  <a:srgbClr val="8EDCFC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 u="sng">
                  <a:solidFill>
                    <a:srgbClr val="4F81BD"/>
                  </a:solidFill>
                  <a:latin typeface="Plus Jakarta Sans"/>
                  <a:ea typeface="Plus Jakarta Sans"/>
                  <a:cs typeface="Plus Jakarta Sans"/>
                  <a:sym typeface="Plus Jakarta Sans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https://github.com/Almucero/Proyecto-Intermodular</a:t>
              </a:r>
              <a:endParaRPr sz="1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